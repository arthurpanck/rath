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prototypage de tableau de bord.
Ce fichier sert à décrire un tableau de bord avant de le construire : on choisit les graphiques, on les dispose, on remplit les commentaires.
Toutes les images de l'annexe sortent de l'outil de visualisation : ce que vous voyez est ce qui sera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D'EMPLOI
1. Choisir : annexe pages 10 à 33. Chaque image est une déclinaison réelle du graphique.
2. Poser : gabarits pages 5 à 8. Collez l'image par-dessus un cadre en pointillés, puis supprimez le cadre.
3. Décrire : cette zone-ci. Les gabarits arrivent avec une fiche pré-remplie par zone.
4. Renvoyer : une page = un écran du tableau de bord.
Astuce : dupliquez un gabarit (clic droit sur la vignette ▸ Dupliquer la diapositive) pour un deuxième 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GRAPHIQUE — modèle
À recopier une fois par graphique posé sur une page. Les gabarits la contiennent déjà, pré-numérotée par zone.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Les champs sans objet (par exemple les axes d'un camembert) peuvent rester vides.
L'annexe rappelle, pour chaque type de graphique, les champs qui le concernent vraiment.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REPÈRES — choisir un type de graphique
Comparer des catégories entre elles → barres (verticales), ou barres horizontales si les libellés sont longs ou s'il s'agit d'un classement.
Suivre une évolution dans le temps → courbe ; aire si ce qui compte est la composition du total.
Montrer une composition → aire empilée 100 % dans le temps, barres empilées 100 % par catégorie, camembert pour un instant donné.
Afficher un chiffre clé → Nombre ; Tendance si l'évolution compte ; Jauge ou Progression s'il y a une cible.
Détailler une répartition → camembert (2 à 6 parts), sinon barres horizontales triées.
Expliquer un écart → cascade.
Chercher une corrélation → nuage de points.
Règle simple : un écran de tableau de bord tient en 4 à 6 graphiques, chiffres clés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GABARIT A — CHIFFRES CLÉS + DEUX GRAPHIQUES
TITRE DU TABLEAU DE BORD : ..............................................
Pour qui / pour quoi faire : ..............................................
Fréquence de mise à jour : ..............................................
Filtres communs à toute la page : ..............................................
Remplissez une fiche par zone. Laissez une zone vide si vous ne l'utilisez pas.
----- ZONE 1 (chiffre clé)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2 (chiffre clé)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3 (chiffre clé)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4 (chiffre clé)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5 (graphique principal)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6 (graphique secondaire)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Besoin d'un deuxième écran ? Clic droit sur la vignette de cette page ▸ Dupliquer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GABARIT B — QUATRE GRAPHIQUES
TITRE DU TABLEAU DE BORD : ..............................................
Pour qui / pour quoi faire : ..............................................
Fréquence de mise à jour : ..............................................
Filtres communs à toute la page : ..............................................
Remplissez une fiche par zone. Laissez une zone vide si vous ne l'utilisez pas.
----- ZONE 1 (haut gauche)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2 (haut droite)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3 (bas gauche)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4 (bas droite)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Besoin d'un deuxième écran ? Clic droit sur la vignette de cette page ▸ Dupliquer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GABARIT C — UN GRAPHIQUE DOMINANT
TITRE DU TABLEAU DE BORD : ..............................................
Pour qui / pour quoi faire : ..............................................
Fréquence de mise à jour : ..............................................
Filtres communs à toute la page : ..............................................
Remplissez une fiche par zone. Laissez une zone vide si vous ne l'utilisez pas.
----- ZONE 1 (dominant)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2 (appoint 1)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3 (appoint 2)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4 (appoint 3)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Besoin d'un deuxième écran ? Clic droit sur la vignette de cette page ▸ Dupliquer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GABARIT D — PAGE LIBRE
TITRE DU TABLEAU DE BORD : ..............................................
Pour qui / pour quoi faire : ..............................................
Fréquence de mise à jour : ..............................................
Filtres communs à toute la page : ..............................................
Remplissez une fiche par zone. Laissez une zone vide si vous ne l'utilisez pas.
----- ZONE 1 (zone 1)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2 (zone 2)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3 (zone 3)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 ZONE 4 (zone 4) -----
  Graphique choisi (dossier / fichier) : ..............................................
  Titre affiché : ..............................................
  Question à laquelle il répond : ..............................................
  Source / table : ..............................................
  Mesure(s) affichée(s) : ..............................................
  Agrégation (somme / moyenne / nombre…) : ..............................................
  Dimension (axe X ou parts) : ..............................................
  Éclatement par une 2ᵉ dimension : ..............................................
  Filtres appliqués : ..............................................
  Période couverte : ..............................................
  Tri : ..............................................
  Nom de l'axe X : ..............................................
  Nom de l'axe Y + unité : ..............................................
  Format des valeurs (nombre / % / €) : ..............................................
  Valeurs affichées sur le graphique (oui / non) : ..............................................
  Légende (oui / non) : ..............................................
  Ligne d'objectif : ..............................................
  Au clic (filtrer, ouvrir le détail, rien) : ..............................................
  Remarques : ..............................................
Besoin d'un deuxième écran ? Clic droit sur la vignette de cette page ▸ Dupliquer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sommaire
Barres : 19 déclinaisons, page 10. Comparer des catégories entre elles, ou suivre un petit nombre de périodes. Le réflexe par défaut quand on hésite.
Barres horizontales : 9 déclinaisons, page 14. Un classement (top 10, palmarès), ou des libellés de catégories trop longs pour tenir sous un axe X.
Courbe : 14 déclinaisons, page 16. Suivre une évolution dans le temps, en particulier sur beaucoup de points.
Aire : 10 déclinaisons, page 19. Montrer une composition qui évolue : le total et la part de chacun, période après période.
Combiné (barres + courbe) : 10 déclinaisons, page 21. Croiser deux grandeurs d'échelles différentes : volume et taux, réalisé et objectif.
Camembert : 13 déclinaisons, page 23. Une répartition à un instant donné. À réserver aux répartitions de 2 à 6 parts.
Nombre (chiffre clé) : 11 déclinaisons, page 26. Le chiffre clé, seul. C'est ce qu'on lit en premier, en haut du tableau de bord.
Tendance (smart scalar) : 7 déclinaisons, page 28. Le chiffre clé et son évolution : où on en est, et dans quel sens ça va.
Cascade (waterfall) : 5 déclinaisons, page 30. Expliquer un écart : d'où l'on part, ce qui ajoute, ce qui retire, où l'on arrive.
Jauge : 3 déclinaisons, page 31. Situer une valeur sur une échelle bornée : satisfaction, taux d'occupation, note.
Progression : 3 déclinaisons, page 32. L'avancement vers un objectif chiffré : où en est-on du chemin ?
Nuage de points : 5 déclinaisons, page 33. Chercher une relation entre deux mesures et repérer les points atypiques.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BARRES (1/4)
À quoi ça sert : Comparer des catégories entre elles, ou suivre un petit nombre de périodes. Le réflexe par défaut quand on hésite.
Jeu de données des exemples : Pays, Catégorie, Ventes (15 lignes) éclaté par catégorie, sauf mention contraire.
SUR CETTE PAGE :
  01 — Groupées (défaut) : Réglages par défaut : barres côte à côte, aucune valeur affichée, légende visible.
  02 — Groupées + valeurs : « Afficher les valeurs sur les points de données » activé : le chiffre est écrit au-dessus de chaque barre.
  03 — Groupées sans légende : « Afficher la légende » désactivé : les séries restent colorées mais ne sont plus nommées.
  04 — Empilées : Empilement = « Empiler » : les séries s'additionnent dans une seule barre par catégorie, en valeur absolue.
  05 — Empilées + valeurs : Empilé avec les valeurs écrites à l'intérieur de chaque segment.
SI VOUS RETENEZ UN DE CES GRAPHIQUES, précisez (à recopier dans les commentaires de votre page de tableau de bord) :
  Déclinaison retenue (numéro + nom) : ..............................................
  Titre affiché : ..............................................
  Question à laquelle il répond : ..............................................
  Source / table : ..............................................
  Mesure(s) affichée(s) : ..............................................
  Agrégation (somme / moyenne / nombre / min / max) : ..............................................
  Dimension de l'axe X : ..............................................
  Éclatement par une 2ᵉ dimension : ..............................................
  Tri des barres : ..............................................
  Empilement (aucun / empilé / 100 %) : ..............................................
  Nom de l'axe X : ..............................................
  Nom de l'axe Y + unité : ..............................................
  Valeurs affichées sur les barres (oui / non) : ..............................................
  Légende (oui / non) : ..............................................
  Ligne d'objectif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BARRES (2/4)
À quoi ça sert : Comparer des catégories entre elles, ou suivre un petit nombre de périodes. Le réflexe par défaut quand on hésite.
Jeu de données des exemples : Pays, Catégorie, Ventes (15 lignes) éclaté par catégorie, sauf mention contraire.
SUR CETTE PAGE :
  06 — Empilées + totaux : Empilé avec « Afficher les totaux d'empilement » : le total de la pile est écrit au-dessus de la barre.
  07 — Empilées 100 % : Empilement = « 100 % » : chaque barre est ramenée à 100, l'axe Y est en pourcentage — on lit des parts, plus des volumes.
  08 — Empilées 100 % + valeurs : Idem, avec le pourcentage écrit dans chaque segment.
  09 — Série unique : Une seule mesure (`Commandes` par année) : la légende disparaît d'elle-même, le nom de la série sert de titre d'axe Y.
  10 — Série unique + valeurs : Même graphique avec les valeurs au-dessus des barres.
SI VOUS RETENEZ UN DE CES GRAPHIQUES, précisez (à recopier dans les commentaires de votre page de tableau de bord) :
  Déclinaison retenue (numéro + nom) : ..............................................
  Titre affiché : ..............................................
  Question à laquelle il répond : ..............................................
  Source / table : ..............................................
  Mesure(s) affichée(s) : ..............................................
  Agrégation (somme / moyenne / nombre / min / max) : ..............................................
  Dimension de l'axe X : ..............................................
  Éclatement par une 2ᵉ dimension : ..............................................
  Tri des barres : ..............................................
  Empilement (aucun / empilé / 100 %) : ..............................................
  Nom de l'axe X : ..............................................
  Nom de l'axe Y + unité : ..............................................
  Valeurs affichées sur les barres (oui / non) : ..............................................
  Légende (oui / non) : ..............................................
  Ligne d'objectif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BARRES (3/4)
À quoi ça sert : Comparer des catégories entre elles, ou suivre un petit nombre de périodes. Le réflexe par défaut quand on hésite.
Jeu de données des exemples : Pays, Catégorie, Ventes (15 lignes) éclaté par catégorie, sauf mention contraire.
SUR CETTE PAGE :
  11 — Ligne d'objectif : « Ligne d'objectif » = 250 : une ligne pointillée étiquetée traverse le graphique.
  12 — Courbe de tendance : « Courbe de tendance » activée : régression linéaire en pointillés par-dessus les barres.
  13 — Triées par valeur : Tri = valeur décroissante sur 15 communes : les libellés d'axe X pivotent automatiquement quand ils ne tiennent plus à l'horizontale.
  14 — Sans étiquettes d'axes : Libellés et graduations des deux axes coupés, valeurs affichées à la place : la version « épurée » pour un tableau de bord.
  15 — Titres d'axes personnalisés : Titres d'axes saisis à la main (« Exercice » / « Nombre de commandes ») au lieu du nom de colonne.
SI VOUS RETENEZ UN DE CES GRAPHIQUES, précisez (à recopier dans les commentaires de votre page de tableau de bord) :
  Déclinaison retenue (numéro + nom) : ..............................................
  Titre affiché : ..............................................
  Question à laquelle il répond : ..............................................
  Source / table : ..............................................
  Mesure(s) affichée(s) : ..............................................
  Agrégation (somme / moyenne / nombre / min / max) : ..............................................
  Dimension de l'axe X : ..............................................
  Éclatement par une 2ᵉ dimension : ..............................................
  Tri des barres : ..............................................
  Empilement (aucun / empilé / 100 %) : ..............................................
  Nom de l'axe X : ..............................................
  Nom de l'axe Y + unité : ..............................................
  Valeurs affichées sur les barres (oui / non) : ..............................................
  Légende (oui / non) : ..............................................
  Ligne d'objectif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BARRES (4/4)
À quoi ça sert : Comparer des catégories entre elles, ou suivre un petit nombre de périodes. Le réflexe par défaut quand on hésite.
Jeu de données des exemples : Pays, Catégorie, Ventes (15 lignes) éclaté par catégorie, sauf mention contraire.
SUR CETTE PAGE :
  16 — Valeurs compactes : Mise en forme des étiquettes = « Compact » : 92 000 s'écrit 92 k. Utile quand les nombres sont longs.
  17 — Échelle logarithmique : Axe Y logarithmique : les petites communes redeviennent lisibles à côté de Lyon.
  18 — Deux mesures : Deux colonnes de valeurs (`Commandes` et `Revenu`) au lieu d'un éclatement : une série par mesure, sur le même axe.
  19 — Couleurs personnalisées : Couleur par série choisie dans la palette d'accents Metabase, au lieu de l'ordre par défaut.
SI VOUS RETENEZ UN DE CES GRAPHIQUES, précisez (à recopier dans les commentaires de votre page de tableau de bord) :
  Déclinaison retenue (numéro + nom) : ..............................................
  Titre affiché : ..............................................
  Question à laquelle il répond : ..............................................
  Source / table : ..............................................
  Mesure(s) affichée(s) : ..............................................
  Agrégation (somme / moyenne / nombre / min / max) : ..............................................
  Dimension de l'axe X : ..............................................
  Éclatement par une 2ᵉ dimension : ..............................................
  Tri des barres : ..............................................
  Empilement (aucun / empilé / 100 %) : ..............................................
  Nom de l'axe X : ..............................................
  Nom de l'axe Y + unité : ..............................................
  Valeurs affichées sur les barres (oui / non) : ..............................................
  Légende (oui / non) : ..............................................
  Ligne d'objectif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BARRES HORIZONTALES (1/2)
À quoi ça sert : Un classement (top 10, palmarès), ou des libellés de catégories trop longs pour tenir sous un axe X.
Jeu de données des exemples : Pays, Catégorie, Ventes, éclaté par catégorie ; les deux dernières utilisent les 15 communes du Grand Lyon.
SUR CETTE PAGE :
  01 — Défaut : Barres groupées horizontalement, légende visible, pas de valeurs.
  02 — Avec valeurs : Valeurs écrites au bout de chaque barre.
  03 — Empilées : Empilement = « Empiler » : une barre par pays, segmentée par catégorie.
  04 — Empilées + valeurs : Empilé, valeurs écrites dans les segments.
  05 — Empilées 100 % : Empilement = « 100 % » : toutes les barres font la même longueur, l'axe est en pourcentage.
SI VOUS RETENEZ UN DE CES GRAPHIQUES, précisez (à recopier dans les commentaires de votre page de tableau de bord) :
  Déclinaison retenue (numéro + nom) : ..............................................
  Titre affiché : ..............................................
  Question à laquelle il répond : ..............................................
  Source / table : ..............................................
  Mesure(s) affichée(s) : ..............................................
  Agrégation : ..............................................
  Dimension (une ligne par…) : ..............................................
  Éclatement par une 2ᵉ dimension : ..............................................
  Tri (et nombre de lignes gardées) : ..............................................
  Empilement (aucun / empilé / 100 %) : ..............................................
  Nom de l'axe des valeurs + unité : ..............................................
  Valeurs affichées (oui / non) : ..............................................
  Légende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BARRES HORIZONTALES (2/2)
À quoi ça sert : Un classement (top 10, palmarès), ou des libellés de catégories trop longs pour tenir sous un axe X.
Jeu de données des exemples : Pays, Catégorie, Ventes, éclaté par catégorie ; les deux dernières utilisent les 15 communes du Grand Lyon.
SUR CETTE PAGE :
  06 — Empilées 100 % + valeurs : Idem, avec le pourcentage dans chaque segment.
  07 — Sans légende : Empilé sans légende.
  08 — Série unique triée : Un classement : une mesure, tri par valeur décroissante, libellés à gauche.
  09 — Sans étiquettes de valeurs : Graduations de l'axe des valeurs coupées, valeurs écrites au bout des barres.
SI VOUS RETENEZ UN DE CES GRAPHIQUES, précisez (à recopier dans les commentaires de votre page de tableau de bord) :
  Déclinaison retenue (numéro + nom) : ..............................................
  Titre affiché : ..............................................
  Question à laquelle il répond : ..............................................
  Source / table : ..............................................
  Mesure(s) affichée(s) : ..............................................
  Agrégation : ..............................................
  Dimension (une ligne par…) : ..............................................
  Éclatement par une 2ᵉ dimension : ..............................................
  Tri (et nombre de lignes gardées) : ..............................................
  Empilement (aucun / empilé / 100 %) : ..............................................
  Nom de l'axe des valeurs + unité : ..............................................
  Valeurs affichées (oui / non) : ..............................................
  Légende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COURBE (1/3)
À quoi ça sert : Suivre une évolution dans le temps, en particulier sur beaucoup de points.
Jeu de données des exemples : Date, Visiteurs, Conversions — 12 mois de 2023.
SUR CETTE PAGE :
  01 — Défaut : Deux séries, trait droit, points visibles, légende en haut.
  02 — Avec valeurs : Valeur écrite au-dessus de chaque point.
  03 — Sans légende : Légende masquée.
  04 — Ligne lissée : Forme de la ligne = « courbée » sur les deux séries.
  05 — En escalier : Forme de la ligne = « en escalier » : la valeur tient jusqu'au point suivant.
SI VOUS RETENEZ UN DE CES GRAPHIQUES, précisez (à recopier dans les commentaires de votre page de tableau de bord) :
  Déclinaison retenue (numéro + nom) : ..............................................
  Titre affiché : ..............................................
  Question à laquelle il répond : ..............................................
  Source / table : ..............................................
  Mesure(s) affichée(s) : ..............................................
  Agrégation : ..............................................
  Période affichée et granularité (jour / semaine / mois / trimestre) : ..............................................
  Éclatement par une 2ᵉ dimension : ..............................................
  Nom de l'axe X : ..............................................
  Nom de l'axe Y + unité : ..............................................
  2ᵉ axe Y (quelle série ?) : ..............................................
  Points visibles sur la ligne (oui / non) : ..............................................
  Valeurs affichées (oui / non) : ..............................................
  Légende (oui / non) : ..............................................
  Ligne d'objectif : ..............................................
  Courbe de tendance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COURBE (2/3)
À quoi ça sert : Suivre une évolution dans le temps, en particulier sur beaucoup de points.
Jeu de données des exemples : Date, Visiteurs, Conversions — 12 mois de 2023.
SUR CETTE PAGE :
  06 — Pointillée : Style de ligne = « tirets », par exemple pour une série prévisionnelle.
  07 — Sans points : « Afficher les points sur les lignes » = désactivé : trait nu.
  08 — Ligne épaisse : Taille de ligne = L sur la série principale, S sur la secondaire : la hiérarchie se lit tout de suite.
  09 — Deux axes Y : `Conversions` renvoyée sur l'axe de droite : deux ordres de grandeur cohabitent sans écraser l'un des deux.
  10 — Série unique : Une seule mesure : plus de légende, le nom de la série passe en titre d'axe Y.
SI VOUS RETENEZ UN DE CES GRAPHIQUES, précisez (à recopier dans les commentaires de votre page de tableau de bord) :
  Déclinaison retenue (numéro + nom) : ..............................................
  Titre affiché : ..............................................
  Question à laquelle il répond : ..............................................
  Source / table : ..............................................
  Mesure(s) affichée(s) : ..............................................
  Agrégation : ..............................................
  Période affichée et granularité (jour / semaine / mois / trimestre) : ..............................................
  Éclatement par une 2ᵉ dimension : ..............................................
  Nom de l'axe X : ..............................................
  Nom de l'axe Y + unité : ..............................................
  2ᵉ axe Y (quelle série ?) : ..............................................
  Points visibles sur la ligne (oui / non) : ..............................................
  Valeurs affichées (oui / non) : ..............................................
  Légende (oui / non) : ..............................................
  Ligne d'objectif : ..............................................
  Courbe de tendance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COURBE (3/3)
À quoi ça sert : Suivre une évolution dans le temps, en particulier sur beaucoup de points.
Jeu de données des exemples : Date, Visiteurs, Conversions — 12 mois de 2023.
SUR CETTE PAGE :
  11 — Ligne d'objectif : Objectif à 2 000 visiteurs : ligne pointillée étiquetée.
  12 — Courbe de tendance : Régression linéaire ajoutée en pointillés à la couleur de la série.
  13 — Sans étiquettes d'axes : Axes muets : il ne reste que la forme de la courbe (usage type sparkline agrandie).
  14 — Valeurs compactes : Valeurs affichées en notation compacte (2,5 k au lieu de 2 510).
SI VOUS RETENEZ UN DE CES GRAPHIQUES, précisez (à recopier dans les commentaires de votre page de tableau de bord) :
  Déclinaison retenue (numéro + nom) : ..............................................
  Titre affiché : ..............................................
  Question à laquelle il répond : ..............................................
  Source / table : ..............................................
  Mesure(s) affichée(s) : ..............................................
  Agrégation : ..............................................
  Période affichée et granularité (jour / semaine / mois / trimestre) : ..............................................
  Éclatement par une 2ᵉ dimension : ..............................................
  Nom de l'axe X : ..............................................
  Nom de l'axe Y + unité : ..............................................
  2ᵉ axe Y (quelle série ?) : ..............................................
  Points visibles sur la ligne (oui / non) : ..............................................
  Valeurs affichées (oui / non) : ..............................................
  Légende (oui / non) : ..............................................
  Ligne d'objectif : ..............................................
  Courbe de tendance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AIRE (1/2)
À quoi ça sert : Montrer une composition qui évolue : le total et la part de chacun, période après période.
Jeu de données des exemples : Mois, Canal, Sessions — 6 mois × 3 canaux d'acquisition, éclaté par canal ; la dernière capture utilise Pays, Catégorie, Ventes.
SUR CETTE PAGE :
  01 — Défaut : Aires superposées (non empilées), remplissage à 30 % d'opacité : les séries se masquent partiellement.
  02 — Empilée : Empilement = « Empiler » : les aires s'additionnent, le haut de la pile donne le total des sessions.
  03 — Empilée 100 % : Empilement = « 100 % » : la surface est pleine et on lit l'évolution des parts — ici le social qui grignote la recherche.
  04 — Empilée + valeurs : Empilé avec les valeurs écrites dans les bandes.
  05 — Empilée 100 % + valeurs : Même graphique en 100 %, avec le pourcentage dans chaque bande.
SI VOUS RETENEZ UN DE CES GRAPHIQUES, précisez (à recopier dans les commentaires de votre page de tableau de bord) :
  Déclinaison retenue (numéro + nom) : ..............................................
  Titre affiché : ..............................................
  Question à laquelle il répond : ..............................................
  Source / table : ..............................................
  Mesure affichée : ..............................................
  Agrégation : ..............................................
  Période et granularité : ..............................................
  Dimension d'éclatement (les bandes) : ..............................................
  Empilement (empilé / 100 %) : ..............................................
  Nom de l'axe X : ..............................................
  Nom de l'axe Y + unité : ..............................................
  Valeurs affichées (oui / non) : ..............................................
  Légende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AIRE (2/2)
À quoi ça sert : Montrer une composition qui évolue : le total et la part de chacun, période après période.
Jeu de données des exemples : Mois, Canal, Sessions — 6 mois × 3 canaux d'acquisition, éclaté par canal ; la dernière capture utilise Pays, Catégorie, Ventes.
SUR CETTE PAGE :
  06 — Sans légende : Empilé, légende masquée.
  07 — Lissée : Aires empilées à contour courbé.
  08 — Remplissage opaque : Opacité = « opaque » : aplats pleins, contraste maximal.
  09 — Remplissage transparent : Opacité = « transparent » sur des aires non empilées : le remplissage n'est qu'un rappel, le trait domine.
  10 — Axe catégoriel : L'aire ne sert pas qu'au temps : mêmes réglages sur un axe de catégories (ventes par pays, empilées par catégorie de produit).
SI VOUS RETENEZ UN DE CES GRAPHIQUES, précisez (à recopier dans les commentaires de votre page de tableau de bord) :
  Déclinaison retenue (numéro + nom) : ..............................................
  Titre affiché : ..............................................
  Question à laquelle il répond : ..............................................
  Source / table : ..............................................
  Mesure affichée : ..............................................
  Agrégation : ..............................................
  Période et granularité : ..............................................
  Dimension d'éclatement (les bandes) : ..............................................
  Empilement (empilé / 100 %) : ..............................................
  Nom de l'axe X : ..............................................
  Nom de l'axe Y + unité : ..............................................
  Valeurs affichées (oui / non) : ..............................................
  Légende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COMBINÉ (BARRES + COURBE) (1/2)
À quoi ça sert : Croiser deux grandeurs d'échelles différentes : volume et taux, réalisé et objectif.
Jeu de données des exemples : Année, Commandes, Revenu (5 ans) et un jeu trimestriel Ventes, Retours, Objectif.
SUR CETTE PAGE :
  01 — Défaut : 1ʳᵉ mesure en barres, 2ᵉ en courbe, même axe Y — les deux échelles s'écrasent, d'où la variante suivante.
  02 — Deux axes Y : `Revenu` basculé sur l'axe de droite : c'est le réglage à privilégier dès que les ordres de grandeur diffèrent.
  03 — Avec valeurs : Deux axes + valeurs affichées sur les barres et sur les points.
  04 — Sans légende : Deux axes, légende masquée.
  05 — Courbe lissée : La série en courbe est lissée et ses points masqués : elle se lit comme une tendance.
SI VOUS RETENEZ UN DE CES GRAPHIQUES, précisez (à recopier dans les commentaires de votre page de tableau de bord) :
  Déclinaison retenue (numéro + nom) : ..............................................
  Titre affiché : ..............................................
  Question à laquelle il répond : ..............................................
  Source / table : ..............................................
  Mesure en barres : ..............................................
  Mesure(s) en courbe : ..............................................
  Agrégation : ..............................................
  Dimension de l'axe X : ..............................................
  Axe secondaire : quelle série à droite ? : ..............................................
  Nom de l'axe X : ..............................................
  Nom de l'axe Y gauche + unité : ..............................................
  Nom de l'axe Y droit + unité : ..............................................
  Valeurs affichées (oui / non) : ..............................................
  Légende (oui / non) : ..............................................
  Ligne d'objectif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COMBINÉ (BARRES + COURBE) (2/2)
À quoi ça sert : Croiser deux grandeurs d'échelles différentes : volume et taux, réalisé et objectif.
Jeu de données des exemples : Année, Commandes, Revenu (5 ans) et un jeu trimestriel Ventes, Retours, Objectif.
SUR CETTE PAGE :
  06 — Rôles inversés : Type d'affichage forcé par série : `Revenu` en barres, `Commandes` en courbe.
  07 — Ligne d'objectif : Combiné plus une ligne d'objectif à 250 commandes.
  08 — Trois mesures : Trois séries : `Ventes` en barres, `Retours` et `Objectif` en courbes.
  09 — Barres empilées + courbe : Empilement activé : seules les barres s'empilent, la courbe `Objectif` reste posée par-dessus.
  10 — Aire + barres : Type d'affichage par série poussé plus loin : une aire derrière, des barres devant.
SI VOUS RETENEZ UN DE CES GRAPHIQUES, précisez (à recopier dans les commentaires de votre page de tableau de bord) :
  Déclinaison retenue (numéro + nom) : ..............................................
  Titre affiché : ..............................................
  Question à laquelle il répond : ..............................................
  Source / table : ..............................................
  Mesure en barres : ..............................................
  Mesure(s) en courbe : ..............................................
  Agrégation : ..............................................
  Dimension de l'axe X : ..............................................
  Axe secondaire : quelle série à droite ? : ..............................................
  Nom de l'axe X : ..............................................
  Nom de l'axe Y gauche + unité : ..............................................
  Nom de l'axe Y droit + unité : ..............................................
  Valeurs affichées (oui / non) : ..............................................
  Légende (oui / non) : ..............................................
  Ligne d'objectif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CAMEMBERT (1/3)
À quoi ça sert : Une répartition à un instant donné. À réserver aux répartitions de 2 à 6 parts.
Jeu de données des exemples : Pays, Catégorie, Ventes — somme des ventes par pays (5 parts).
SUR CETTE PAGE :
  01 — Anneau (défaut) : Réglages par défaut : anneau, total au centre, légende à droite, aucune étiquette sur les parts.
  02 — Camembert plein : « Anneau (donut) » désactivé : disque plein, donc plus de total au centre.
  03 — Pourcentages sur le graphique : Pourcentages = « Sur le graphique » : chaque part porte sa part du total.
  04 — Nom + pourcentage : Affichage des étiquettes = « Visible », format = pourcentage : le nom de la part et sa part sont écrits en dehors du disque.
  05 — Valeurs absolues : Format des valeurs = « Valeur » : on lit les ventes en unités, pas en parts.
SI VOUS RETENEZ UN DE CES GRAPHIQUES, précisez (à recopier dans les commentaires de votre page de tableau de bord) :
  Déclinaison retenue (numéro + nom) : ..............................................
  Titre affiché : ..............................................
  Question à laquelle il répond : ..............................................
  Source / table : ..............................................
  Mesure affichée : ..............................................
  Agrégation : ..............................................
  Dimension (les parts) : ..............................................
  Tri des parts : ..............................................
  Anneau ou disque plein : ..............................................
  Total au centre (oui / non) : ..............................................
  Étiquettes : pourcentage / valeur / les deux / aucune : ..............................................
  Légende (oui / non) : ..............................................
  Regroupement des petites parts (« Autres » à partir de … %)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CAMEMBERT (2/3)
À quoi ça sert : Une répartition à un instant donné. À réserver aux répartitions de 2 à 6 parts.
Jeu de données des exemples : Pays, Catégorie, Ventes — somme des ventes par pays (5 parts).
SUR CETTE PAGE :
  06 — Valeur + pourcentage : Format des valeurs = « Valeur + % » : les deux lectures d'un coup.
  07 — Pourcentages dans la légende : Pourcentages = « Dans la légende » : le disque reste net, les chiffres passent à droite.
  08 — Pourcentages partout : Pourcentages = « Les deux » : sur les parts et dans la légende.
  09 — Sans étiquettes : Affichage des étiquettes = « Masqué » : ni pourcentage, ni total central — la lecture passe uniquement par la légende.
  10 — Sans légende : Légende masquée : l'anneau se recentre et les étiquettes portent les noms.
SI VOUS RETENEZ UN DE CES GRAPHIQUES, précisez (à recopier dans les commentaires de votre page de tableau de bord) :
  Déclinaison retenue (numéro + nom) : ..............................................
  Titre affiché : ..............................................
  Question à laquelle il répond : ..............................................
  Source / table : ..............................................
  Mesure affichée : ..............................................
  Agrégation : ..............................................
  Dimension (les parts) : ..............................................
  Tri des parts : ..............................................
  Anneau ou disque plein : ..............................................
  Total au centre (oui / non) : ..............................................
  Étiquettes : pourcentage / valeur / les deux / aucune : ..............................................
  Légende (oui / non) : ..............................................
  Regroupement des petites parts (« Autres » à partir de … %)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CAMEMBERT (3/3)
À quoi ça sert : Une répartition à un instant donné. À réserver aux répartitions de 2 à 6 parts.
Jeu de données des exemples : Pays, Catégorie, Ventes — somme des ventes par pays (5 parts).
SUR CETTE PAGE :
  11 — Sans total au centre : « Afficher le total au centre » désactivé : l'anneau garde son trou, mais vide.
  12 — Deux anneaux : Anneau intérieur = `Pays`, anneau extérieur = `Catégorie` : la décomposition à deux niveaux.
  13 — Trié par valeur : Tri par valeur décroissante : les parts partent de la plus grosse.
SI VOUS RETENEZ UN DE CES GRAPHIQUES, précisez (à recopier dans les commentaires de votre page de tableau de bord) :
  Déclinaison retenue (numéro + nom) : ..............................................
  Titre affiché : ..............................................
  Question à laquelle il répond : ..............................................
  Source / table : ..............................................
  Mesure affichée : ..............................................
  Agrégation : ..............................................
  Dimension (les parts) : ..............................................
  Tri des parts : ..............................................
  Anneau ou disque plein : ..............................................
  Total au centre (oui / non) : ..............................................
  Étiquettes : pourcentage / valeur / les deux / aucune : ..............................................
  Légende (oui / non) : ..............................................
  Regroupement des petites parts (« Autres » à partir de … %)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NOMBRE (CHIFFRE CLÉ) (1/2)
À quoi ça sert : Le chiffre clé, seul. C'est ce qu'on lit en premier, en haut du tableau de bord.
Jeu de données des exemples : Année, Commandes, Revenu résumé en une somme, sauf le pourcentage (un taux de conversion).
SUR CETTE PAGE :
  01 — Défaut : Somme du revenu, format par défaut : séparateur de milliers français, libellé de la mesure en dessous.
  02 — Devise : Style = « Devise », symbole € affiché avec la valeur.
  03 — Devise en code : Même chose avec le code ISO (EUR) au lieu du symbole.
  04 — Pourcentage : Style = « Pourcentage » sur un taux stocké en 0,0911 → affiché 9,11 %.
  05 — Deux décimales : « Nombre de décimales » = 2 : le chiffre est figé au centime près.
  06 — Préfixe / suffixe : Préfixe « ≈ » et suffixe « € HT » ajoutés autour de la valeur.
SI VOUS RETENEZ UN DE CES GRAPHIQUES, précisez (à recopier dans les commentaires de votre page de tableau de bord) :
  Déclinaison retenue (numéro + nom) : ..............................................
  Titre affiché : ..............................................
  Question à laquelle il répond : ..............................................
  Source / table : ..............................................
  Mesure affichée : ..............................................
  Agrégation : ..............................................
  Période couverte : ..............................................
  Format : nombre / pourcentage / devise : ..............................................
  Décimales : ..............................................
  Préfixe / suffixe : ..............................................
  Libellé sous le chiffre : ..............................................
  Seuil de couleur (au-dessus de … → vert, en dessous → rouge)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NOMBRE (CHIFFRE CLÉ) (2/2)
À quoi ça sert : Le chiffre clé, seul. C'est ce qu'on lit en premier, en haut du tableau de bord.
Jeu de données des exemples : Année, Commandes, Revenu résumé en une somme, sauf le pourcentage (un taux de conversion).
SUR CETTE PAGE :
  07 — Multiplié par : « Multiplier par » 0,001 et suffixe « k€ » : la même donnée exprimée en milliers.
  08 — Séparateur anglo-saxon : Style de séparateur = 100,000.00 au lieu de 100 000,00.
  09 — Notation scientifique : Style = « Scientifique » : 2,97e+5.
  10 — Couleur conditionnelle : Règle « &gt; 200 000 → vert » : le chiffre change de couleur quand le seuil est franchi.
  11 — Couleur conditionnelle (alerte) : Même règle, seuil relevé à 500 000 : la valeur passe sous le seuil et vire au rouge.
SI VOUS RETENEZ UN DE CES GRAPHIQUES, précisez (à recopier dans les commentaires de votre page de tableau de bord) :
  Déclinaison retenue (numéro + nom) : ..............................................
  Titre affiché : ..............................................
  Question à laquelle il répond : ..............................................
  Source / table : ..............................................
  Mesure affichée : ..............................................
  Agrégation : ..............................................
  Période couverte : ..............................................
  Format : nombre / pourcentage / devise : ..............................................
  Décimales : ..............................................
  Préfixe / suffixe : ..............................................
  Libellé sous le chiffre : ..............................................
  Seuil de couleur (au-dessus de … → vert, en dessous → rouge)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TENDANCE (SMART SCALAR) (1/2)
À quoi ça sert : Le chiffre clé et son évolution : où on en est, et dans quel sens ça va.
Jeu de données des exemples : Date, Visiteurs, Conversions (12 mois), plus deux séries dédiées : abonnés en baisse et revenus mensuels.
SUR CETTE PAGE :
  01 — Défaut : Dernière valeur et écart en % vs la valeur précédente, flèche verte car en hausse.
  02 — vs première valeur : Comparaison = « première valeur » : l'écart depuis le début de la série.
  03 — vs moyenne : Comparaison = « moyenne de la série ».
  04 — Trois comparaisons : Les trois comparaisons empilées sous le chiffre.
SI VOUS RETENEZ UN DE CES GRAPHIQUES, précisez (à recopier dans les commentaires de votre page de tableau de bord) :
  Déclinaison retenue (numéro + nom) : ..............................................
  Titre affiché : ..............................................
  Question à laquelle il répond : ..............................................
  Source / table : ..............................................
  Mesure affichée : ..............................................
  Agrégation : ..............................................
  Période affichée : ..............................................
  Comparaison : période précédente / première valeur / moyenne : ..............................................
  Afficher la valeur de comparaison (oui / non) : ..............................................
  Format du chiffre : ..............................................
  Sens favorable (une hausse est-elle une bonne nouvelle ?)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TENDANCE (SMART SCALAR) (2/2)
À quoi ça sert : Le chiffre clé et son évolution : où on en est, et dans quel sens ça va.
Jeu de données des exemples : Date, Visiteurs, Conversions (12 mois), plus deux séries dédiées : abonnés en baisse et revenus mensuels.
SUR CETTE PAGE :
  05 — Avec valeur de référence : « Afficher la valeur de comparaison » : la base du calcul est rappelée entre parenthèses.
  06 — Tendance à la baisse : Série décroissante : flèche rouge vers le bas.
  07 — Format devise : Même viz avec un format monétaire appliqué au chiffre et à la valeur de référence.
SI VOUS RETENEZ UN DE CES GRAPHIQUES, précisez (à recopier dans les commentaires de votre page de tableau de bord) :
  Déclinaison retenue (numéro + nom) : ..............................................
  Titre affiché : ..............................................
  Question à laquelle il répond : ..............................................
  Source / table : ..............................................
  Mesure affichée : ..............................................
  Agrégation : ..............................................
  Période affichée : ..............................................
  Comparaison : période précédente / première valeur / moyenne : ..............................................
  Afficher la valeur de comparaison (oui / non) : ..............................................
  Format du chiffre : ..............................................
  Sens favorable (une hausse est-elle une bonne nouvelle ?)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CASCADE (WATERFALL)
À quoi ça sert : Expliquer un écart : d'où l'on part, ce qui ajoute, ce qui retire, où l'on arrive.
Jeu de données des exemples : Poste, Montant — un pont de chiffre d'affaires avec des postes positifs et négatifs.
SUR CETTE PAGE :
  01 — Défaut : Colonne de total finale incluse, couleurs par défaut.
  02 — Avec valeurs : Montant de chaque marche écrit au-dessus de la barre.
  03 — Sans colonne de total : « Afficher la colonne de total » désactivé : il ne reste que les mouvements.
  04 — Couleurs personnalisées : Couleurs « Augmentation » / « Diminution » remplacées par le bleu et le violet de la palette.
  05 — Valeurs compactes : Étiquettes en notation compacte et titres d'axes personnalisés.
SI VOUS RETENEZ UN DE CES GRAPHIQUES, précisez (à recopier dans les commentaires de votre page de tableau de bord) :
  Déclinaison retenue (numéro + nom) : ..............................................
  Titre affiché : ..............................................
  Question à laquelle il répond : ..............................................
  Source / table : ..............................................
  Mesure affichée : ..............................................
  Postes et leur ordre (de gauche à droite) : ..............................................
  Point de départ (report, budget, N-1…) : ..............................................
  Colonne de total (oui / non) : ..............................................
  Couleurs augmentation / diminution : ..............................................
  Nom de l'axe Y + unité : ..............................................
  Valeurs affichées (oui / non)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JAUGE
À quoi ça sert : Situer une valeur sur une échelle bornée : satisfaction, taux d'occupation, note.
Jeu de données des exemples : Indicateur, Satisfaction — une seule ligne.
SUR CETTE PAGE :
  01 — Défaut : Arc de progression bleu jusqu'à l'objectif (100).
  02 — Plages colorées : Trois plages (rouge / jaune / vert) et une aiguille, comme un feu tricolore.
  03 — Avec suffixe : Mise en forme du nombre : suffixe « /100 » ajouté sous l'aiguille.
SI VOUS RETENEZ UN DE CES GRAPHIQUES, précisez (à recopier dans les commentaires de votre page de tableau de bord) :
  Déclinaison retenue (numéro + nom) : ..............................................
  Titre affiché : ..............................................
  Question à laquelle il répond : ..............................................
  Source / table : ..............................................
  Mesure affichée : ..............................................
  Agrégation : ..............................................
  Minimum et maximum de l'échelle : ..............................................
  Plages colorées : bornes, couleurs, libellés : ..............................................
  Objectif : ..............................................
  Format du chiffre (suffixe, décimales)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PROGRESSION
À quoi ça sert : L'avancement vers un objectif chiffré : où en est-on du chemin ?
Jeu de données des exemples : Indicateur, Ventes — une seule ligne.
SUR CETTE PAGE :
  01 — Défaut : 7 400 sur un objectif de 10 000 : la barre est remplie à 74 %.
  02 — Objectif dépassé : Valeur au-delà de l'objectif : la barre est pleine et le pourcentage plafonne à 100 %.
  03 — Couleur + devise : Couleur de la barre changée et valeurs formatées en euros.
SI VOUS RETENEZ UN DE CES GRAPHIQUES, précisez (à recopier dans les commentaires de votre page de tableau de bord) :
  Déclinaison retenue (numéro + nom) : ..............................................
  Titre affiché : ..............................................
  Question à laquelle il répond : ..............................................
  Source / table : ..............................................
  Mesure affichée : ..............................................
  Objectif à atteindre : ..............................................
  Période couverte : ..............................................
  Format du chiffre : ..............................................
  Couleur de la barre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NUAGE DE POINTS
À quoi ça sert : Chercher une relation entre deux mesures et repérer les points atypiques.
Jeu de données des exemples : Commune, Population, Equipements — 15 communes du Grand Lyon.
SUR CETTE PAGE :
  01 — Défaut : Population en X, équipements en Y, points de taille fixe.
  02 — Avec étiquettes : « Afficher les étiquettes des points » : chaque point porte le nom de sa commune.
  03 — Bulles : « Taille des bulles » branchée sur `Equipements` : le rayon porte une 3ᵉ information.
  04 — Échelle logarithmique : Axe Y logarithmique, pour écraser l'écart entre Lyon et les petites communes.
  05 — Sans étiquettes d'axes : Graduations coupées : il ne reste que le motif du nuage.
SI VOUS RETENEZ UN DE CES GRAPHIQUES, précisez (à recopier dans les commentaires de votre page de tableau de bord) :
  Déclinaison retenue (numéro + nom) : ..............................................
  Titre affiché : ..............................................
  Question à laquelle il répond : ..............................................
  Source / table : ..............................................
  Mesure de l'axe X : ..............................................
  Mesure de l'axe Y : ..............................................
  Un point = quoi ? (une commune, un client, une commande…) : ..............................................
  Mesure portée par la taille des bulles : ..............................................
  Étiquettes des points (oui / non) : ..............................................
  Échelle (linéaire / logarithmique) : ..............................................
  Nom des axes + unités : ..............................................
  Au clic (filtrer, ouvrir le détail, rien) : ..............................................
  Remarques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DE FIN
1. Chaque page porte un titre et un destinataire.
2. Chaque graphique posé a sa fiche remplie dans les commentaires.
3. Les mesures et les filtres sont nommés comme dans vos données, pas en langage courant.
4. Les cadres en pointillés inutilisés ont été supprimés.
5. Les pages de l'annexe et les gabarits vides peuvent rester : ils ne gênent pas.
Rappel : les images de l'annexe sont des rendus réels de l'outil. Si une déclinaison vous manque (une variante de format, un tri, une couleur), décrivez-la dans les commentaires : elle est réalisable.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3293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51560"/>
            <a:ext cx="7315200" cy="274320"/>
          </a:xfrm>
          <a:prstGeom prst="rect">
            <a:avLst/>
          </a:prstGeom>
          <a:noFill/>
          <a:ln/>
        </p:spPr>
        <p:txBody>
          <a:bodyPr wrap="square" lIns="0" tIns="0" rIns="0" bIns="0" rtlCol="0" anchor="ctr"/>
          <a:lstStyle/>
          <a:p>
            <a:pPr indent="0" marL="0">
              <a:buNone/>
            </a:pPr>
            <a:r>
              <a:rPr lang="en-US" sz="1200" b="1" spc="300" kern="0" dirty="0">
                <a:solidFill>
                  <a:srgbClr val="E2622C"/>
                </a:solidFill>
                <a:latin typeface="Calibri" pitchFamily="34" charset="0"/>
                <a:ea typeface="Calibri" pitchFamily="34" charset="-122"/>
                <a:cs typeface="Calibri" pitchFamily="34" charset="-120"/>
              </a:rPr>
              <a:t>KIT DE PROTOTYPAGE</a:t>
            </a:r>
            <a:endParaRPr lang="en-US" sz="1200" dirty="0"/>
          </a:p>
        </p:txBody>
      </p:sp>
      <p:sp>
        <p:nvSpPr>
          <p:cNvPr id="3" name="Text 1"/>
          <p:cNvSpPr txBox="1"/>
          <p:nvPr/>
        </p:nvSpPr>
        <p:spPr>
          <a:xfrm>
            <a:off x="640080" y="1389888"/>
            <a:ext cx="7406640" cy="2011680"/>
          </a:xfrm>
          <a:prstGeom prst="rect">
            <a:avLst/>
          </a:prstGeom>
          <a:noFill/>
          <a:ln/>
        </p:spPr>
        <p:txBody>
          <a:bodyPr wrap="square" lIns="0" tIns="0" rIns="0" bIns="0" rtlCol="0" anchor="ctr"/>
          <a:lstStyle/>
          <a:p>
            <a:pPr indent="0" marL="0">
              <a:lnSpc>
                <a:spcPts val="4000"/>
              </a:lnSpc>
              <a:buNone/>
            </a:pPr>
            <a:r>
              <a:rPr lang="en-US" sz="3300" b="1" dirty="0">
                <a:solidFill>
                  <a:srgbClr val="FFFFFF"/>
                </a:solidFill>
                <a:latin typeface="Cambria" pitchFamily="34" charset="0"/>
                <a:ea typeface="Cambria" pitchFamily="34" charset="-122"/>
                <a:cs typeface="Cambria" pitchFamily="34" charset="-120"/>
              </a:rPr>
              <a:t>Construisez votre</a:t>
            </a:r>
            <a:endParaRPr lang="en-US" sz="3300" dirty="0"/>
          </a:p>
          <a:p>
            <a:pPr indent="0" marL="0">
              <a:lnSpc>
                <a:spcPts val="4000"/>
              </a:lnSpc>
              <a:buNone/>
            </a:pPr>
            <a:r>
              <a:rPr lang="en-US" sz="3300" b="1" dirty="0">
                <a:solidFill>
                  <a:srgbClr val="FFFFFF"/>
                </a:solidFill>
                <a:latin typeface="Cambria" pitchFamily="34" charset="0"/>
                <a:ea typeface="Cambria" pitchFamily="34" charset="-122"/>
                <a:cs typeface="Cambria" pitchFamily="34" charset="-120"/>
              </a:rPr>
              <a:t>tableau de bord</a:t>
            </a:r>
            <a:endParaRPr lang="en-US" sz="3300" dirty="0"/>
          </a:p>
          <a:p>
            <a:pPr indent="0" marL="0">
              <a:lnSpc>
                <a:spcPts val="4000"/>
              </a:lnSpc>
              <a:buNone/>
            </a:pPr>
            <a:r>
              <a:rPr lang="en-US" sz="3300" b="1" dirty="0">
                <a:solidFill>
                  <a:srgbClr val="FFFFFF"/>
                </a:solidFill>
                <a:latin typeface="Cambria" pitchFamily="34" charset="0"/>
                <a:ea typeface="Cambria" pitchFamily="34" charset="-122"/>
                <a:cs typeface="Cambria" pitchFamily="34" charset="-120"/>
              </a:rPr>
              <a:t>dans ce PowerPoint</a:t>
            </a:r>
            <a:endParaRPr lang="en-US" sz="3300" dirty="0"/>
          </a:p>
        </p:txBody>
      </p:sp>
      <p:sp>
        <p:nvSpPr>
          <p:cNvPr id="4" name="Text 2"/>
          <p:cNvSpPr txBox="1"/>
          <p:nvPr/>
        </p:nvSpPr>
        <p:spPr>
          <a:xfrm>
            <a:off x="640080" y="3520440"/>
            <a:ext cx="7223760" cy="914400"/>
          </a:xfrm>
          <a:prstGeom prst="rect">
            <a:avLst/>
          </a:prstGeom>
          <a:noFill/>
          <a:ln/>
        </p:spPr>
        <p:txBody>
          <a:bodyPr wrap="square" lIns="0" tIns="0" rIns="0" bIns="0" rtlCol="0" anchor="ctr"/>
          <a:lstStyle/>
          <a:p>
            <a:pPr indent="0" marL="0">
              <a:lnSpc>
                <a:spcPts val="2200"/>
              </a:lnSpc>
              <a:buNone/>
            </a:pPr>
            <a:r>
              <a:rPr lang="en-US" sz="1400" dirty="0">
                <a:solidFill>
                  <a:srgbClr val="C3CAD6"/>
                </a:solidFill>
                <a:latin typeface="Calibri" pitchFamily="34" charset="0"/>
                <a:ea typeface="Calibri" pitchFamily="34" charset="-122"/>
                <a:cs typeface="Calibri" pitchFamily="34" charset="-120"/>
              </a:rPr>
              <a:t>Choisissez vos graphiques dans l'annexe, posez-les sur un gabarit, décrivez-les dans les commentaires : le tableau de bord est spécifié.</a:t>
            </a:r>
            <a:endParaRPr lang="en-US" sz="1400" dirty="0"/>
          </a:p>
        </p:txBody>
      </p:sp>
      <p:sp>
        <p:nvSpPr>
          <p:cNvPr id="5" name="Text 3"/>
          <p:cNvSpPr txBox="1"/>
          <p:nvPr/>
        </p:nvSpPr>
        <p:spPr>
          <a:xfrm>
            <a:off x="640080" y="4572000"/>
            <a:ext cx="1097280" cy="566928"/>
          </a:xfrm>
          <a:prstGeom prst="rect">
            <a:avLst/>
          </a:prstGeom>
          <a:noFill/>
          <a:ln/>
        </p:spPr>
        <p:txBody>
          <a:bodyPr wrap="square" lIns="0" tIns="0" rIns="0" bIns="0" rtlCol="0" anchor="ctr"/>
          <a:lstStyle/>
          <a:p>
            <a:pPr indent="0" marL="0">
              <a:buNone/>
            </a:pPr>
            <a:r>
              <a:rPr lang="en-US" sz="3400" b="1" dirty="0">
                <a:solidFill>
                  <a:srgbClr val="E2622C"/>
                </a:solidFill>
                <a:latin typeface="Cambria" pitchFamily="34" charset="0"/>
                <a:ea typeface="Cambria" pitchFamily="34" charset="-122"/>
                <a:cs typeface="Cambria" pitchFamily="34" charset="-120"/>
              </a:rPr>
              <a:t>12</a:t>
            </a:r>
            <a:endParaRPr lang="en-US" sz="3400" dirty="0"/>
          </a:p>
        </p:txBody>
      </p:sp>
      <p:sp>
        <p:nvSpPr>
          <p:cNvPr id="6" name="Text 4"/>
          <p:cNvSpPr txBox="1"/>
          <p:nvPr/>
        </p:nvSpPr>
        <p:spPr>
          <a:xfrm>
            <a:off x="640080" y="5148072"/>
            <a:ext cx="2286000" cy="457200"/>
          </a:xfrm>
          <a:prstGeom prst="rect">
            <a:avLst/>
          </a:prstGeom>
          <a:noFill/>
          <a:ln/>
        </p:spPr>
        <p:txBody>
          <a:bodyPr wrap="square" lIns="0" tIns="0" rIns="0" bIns="0" rtlCol="0" anchor="ctr"/>
          <a:lstStyle/>
          <a:p>
            <a:pPr indent="0" marL="0">
              <a:buNone/>
            </a:pPr>
            <a:r>
              <a:rPr lang="en-US" sz="1100" dirty="0">
                <a:solidFill>
                  <a:srgbClr val="9AA4B4"/>
                </a:solidFill>
                <a:latin typeface="Calibri" pitchFamily="34" charset="0"/>
                <a:ea typeface="Calibri" pitchFamily="34" charset="-122"/>
                <a:cs typeface="Calibri" pitchFamily="34" charset="-120"/>
              </a:rPr>
              <a:t>types de graphiques</a:t>
            </a:r>
            <a:endParaRPr lang="en-US" sz="1100" dirty="0"/>
          </a:p>
        </p:txBody>
      </p:sp>
      <p:sp>
        <p:nvSpPr>
          <p:cNvPr id="7" name="Text 5"/>
          <p:cNvSpPr txBox="1"/>
          <p:nvPr/>
        </p:nvSpPr>
        <p:spPr>
          <a:xfrm>
            <a:off x="3154680" y="4572000"/>
            <a:ext cx="1097280" cy="566928"/>
          </a:xfrm>
          <a:prstGeom prst="rect">
            <a:avLst/>
          </a:prstGeom>
          <a:noFill/>
          <a:ln/>
        </p:spPr>
        <p:txBody>
          <a:bodyPr wrap="square" lIns="0" tIns="0" rIns="0" bIns="0" rtlCol="0" anchor="ctr"/>
          <a:lstStyle/>
          <a:p>
            <a:pPr indent="0" marL="0">
              <a:buNone/>
            </a:pPr>
            <a:r>
              <a:rPr lang="en-US" sz="3400" b="1" dirty="0">
                <a:solidFill>
                  <a:srgbClr val="E2622C"/>
                </a:solidFill>
                <a:latin typeface="Cambria" pitchFamily="34" charset="0"/>
                <a:ea typeface="Cambria" pitchFamily="34" charset="-122"/>
                <a:cs typeface="Cambria" pitchFamily="34" charset="-120"/>
              </a:rPr>
              <a:t>109</a:t>
            </a:r>
            <a:endParaRPr lang="en-US" sz="3400" dirty="0"/>
          </a:p>
        </p:txBody>
      </p:sp>
      <p:sp>
        <p:nvSpPr>
          <p:cNvPr id="8" name="Text 6"/>
          <p:cNvSpPr txBox="1"/>
          <p:nvPr/>
        </p:nvSpPr>
        <p:spPr>
          <a:xfrm>
            <a:off x="3154680" y="5148072"/>
            <a:ext cx="2286000" cy="457200"/>
          </a:xfrm>
          <a:prstGeom prst="rect">
            <a:avLst/>
          </a:prstGeom>
          <a:noFill/>
          <a:ln/>
        </p:spPr>
        <p:txBody>
          <a:bodyPr wrap="square" lIns="0" tIns="0" rIns="0" bIns="0" rtlCol="0" anchor="ctr"/>
          <a:lstStyle/>
          <a:p>
            <a:pPr indent="0" marL="0">
              <a:buNone/>
            </a:pPr>
            <a:r>
              <a:rPr lang="en-US" sz="1100" dirty="0">
                <a:solidFill>
                  <a:srgbClr val="9AA4B4"/>
                </a:solidFill>
                <a:latin typeface="Calibri" pitchFamily="34" charset="0"/>
                <a:ea typeface="Calibri" pitchFamily="34" charset="-122"/>
                <a:cs typeface="Calibri" pitchFamily="34" charset="-120"/>
              </a:rPr>
              <a:t>déclinaisons prêtes à coller</a:t>
            </a:r>
            <a:endParaRPr lang="en-US" sz="1100" dirty="0"/>
          </a:p>
        </p:txBody>
      </p:sp>
      <p:sp>
        <p:nvSpPr>
          <p:cNvPr id="9" name="Text 7"/>
          <p:cNvSpPr txBox="1"/>
          <p:nvPr/>
        </p:nvSpPr>
        <p:spPr>
          <a:xfrm>
            <a:off x="5669280" y="4572000"/>
            <a:ext cx="1097280" cy="566928"/>
          </a:xfrm>
          <a:prstGeom prst="rect">
            <a:avLst/>
          </a:prstGeom>
          <a:noFill/>
          <a:ln/>
        </p:spPr>
        <p:txBody>
          <a:bodyPr wrap="square" lIns="0" tIns="0" rIns="0" bIns="0" rtlCol="0" anchor="ctr"/>
          <a:lstStyle/>
          <a:p>
            <a:pPr indent="0" marL="0">
              <a:buNone/>
            </a:pPr>
            <a:r>
              <a:rPr lang="en-US" sz="3400" b="1" dirty="0">
                <a:solidFill>
                  <a:srgbClr val="E2622C"/>
                </a:solidFill>
                <a:latin typeface="Cambria" pitchFamily="34" charset="0"/>
                <a:ea typeface="Cambria" pitchFamily="34" charset="-122"/>
                <a:cs typeface="Cambria" pitchFamily="34" charset="-120"/>
              </a:rPr>
              <a:t>4</a:t>
            </a:r>
            <a:endParaRPr lang="en-US" sz="3400" dirty="0"/>
          </a:p>
        </p:txBody>
      </p:sp>
      <p:sp>
        <p:nvSpPr>
          <p:cNvPr id="10" name="Text 8"/>
          <p:cNvSpPr txBox="1"/>
          <p:nvPr/>
        </p:nvSpPr>
        <p:spPr>
          <a:xfrm>
            <a:off x="5669280" y="5148072"/>
            <a:ext cx="2286000" cy="457200"/>
          </a:xfrm>
          <a:prstGeom prst="rect">
            <a:avLst/>
          </a:prstGeom>
          <a:noFill/>
          <a:ln/>
        </p:spPr>
        <p:txBody>
          <a:bodyPr wrap="square" lIns="0" tIns="0" rIns="0" bIns="0" rtlCol="0" anchor="ctr"/>
          <a:lstStyle/>
          <a:p>
            <a:pPr indent="0" marL="0">
              <a:buNone/>
            </a:pPr>
            <a:r>
              <a:rPr lang="en-US" sz="1100" dirty="0">
                <a:solidFill>
                  <a:srgbClr val="9AA4B4"/>
                </a:solidFill>
                <a:latin typeface="Calibri" pitchFamily="34" charset="0"/>
                <a:ea typeface="Calibri" pitchFamily="34" charset="-122"/>
                <a:cs typeface="Calibri" pitchFamily="34" charset="-120"/>
              </a:rPr>
              <a:t>gabarits de page</a:t>
            </a:r>
            <a:endParaRPr lang="en-US" sz="1100" dirty="0"/>
          </a:p>
        </p:txBody>
      </p:sp>
      <p:sp>
        <p:nvSpPr>
          <p:cNvPr id="11" name="Shape 9"/>
          <p:cNvSpPr/>
          <p:nvPr/>
        </p:nvSpPr>
        <p:spPr>
          <a:xfrm>
            <a:off x="8366760" y="1051560"/>
            <a:ext cx="3246120" cy="1417320"/>
          </a:xfrm>
          <a:prstGeom prst="roundRect">
            <a:avLst>
              <a:gd name="adj" fmla="val 3226"/>
            </a:avLst>
          </a:prstGeom>
          <a:solidFill>
            <a:srgbClr val="FFFFFF"/>
          </a:solidFill>
          <a:ln w="9525">
            <a:solidFill>
              <a:srgbClr val="3A4356"/>
            </a:solidFill>
            <a:prstDash val="solid"/>
          </a:ln>
        </p:spPr>
      </p:sp>
      <p:pic>
        <p:nvPicPr>
          <p:cNvPr id="12" name="Image 0" descr="/home/user/Rath/captures/01-barres/04-empilees.png">    </p:cNvPr>
          <p:cNvPicPr>
            <a:picLocks noChangeAspect="1"/>
          </p:cNvPicPr>
          <p:nvPr/>
        </p:nvPicPr>
        <p:blipFill>
          <a:blip r:embed="rId1"/>
          <a:stretch>
            <a:fillRect/>
          </a:stretch>
        </p:blipFill>
        <p:spPr>
          <a:xfrm>
            <a:off x="8889902" y="1124712"/>
            <a:ext cx="2199835" cy="1271016"/>
          </a:xfrm>
          <a:prstGeom prst="rect">
            <a:avLst/>
          </a:prstGeom>
        </p:spPr>
      </p:pic>
      <p:sp>
        <p:nvSpPr>
          <p:cNvPr id="13" name="Shape 10"/>
          <p:cNvSpPr/>
          <p:nvPr/>
        </p:nvSpPr>
        <p:spPr>
          <a:xfrm>
            <a:off x="8366760" y="2651760"/>
            <a:ext cx="3246120" cy="1417320"/>
          </a:xfrm>
          <a:prstGeom prst="roundRect">
            <a:avLst>
              <a:gd name="adj" fmla="val 3226"/>
            </a:avLst>
          </a:prstGeom>
          <a:solidFill>
            <a:srgbClr val="FFFFFF"/>
          </a:solidFill>
          <a:ln w="9525">
            <a:solidFill>
              <a:srgbClr val="3A4356"/>
            </a:solidFill>
            <a:prstDash val="solid"/>
          </a:ln>
        </p:spPr>
      </p:sp>
      <p:pic>
        <p:nvPicPr>
          <p:cNvPr id="14" name="Image 1" descr="/home/user/Rath/captures/03-courbe/01-defaut.png">    </p:cNvPr>
          <p:cNvPicPr>
            <a:picLocks noChangeAspect="1"/>
          </p:cNvPicPr>
          <p:nvPr/>
        </p:nvPicPr>
        <p:blipFill>
          <a:blip r:embed="rId2"/>
          <a:stretch>
            <a:fillRect/>
          </a:stretch>
        </p:blipFill>
        <p:spPr>
          <a:xfrm>
            <a:off x="8889902" y="2724912"/>
            <a:ext cx="2199835" cy="1271016"/>
          </a:xfrm>
          <a:prstGeom prst="rect">
            <a:avLst/>
          </a:prstGeom>
        </p:spPr>
      </p:pic>
      <p:sp>
        <p:nvSpPr>
          <p:cNvPr id="15" name="Shape 11"/>
          <p:cNvSpPr/>
          <p:nvPr/>
        </p:nvSpPr>
        <p:spPr>
          <a:xfrm>
            <a:off x="8366760" y="4251960"/>
            <a:ext cx="3246120" cy="1417320"/>
          </a:xfrm>
          <a:prstGeom prst="roundRect">
            <a:avLst>
              <a:gd name="adj" fmla="val 3226"/>
            </a:avLst>
          </a:prstGeom>
          <a:solidFill>
            <a:srgbClr val="FFFFFF"/>
          </a:solidFill>
          <a:ln w="9525">
            <a:solidFill>
              <a:srgbClr val="3A4356"/>
            </a:solidFill>
            <a:prstDash val="solid"/>
          </a:ln>
        </p:spPr>
      </p:sp>
      <p:pic>
        <p:nvPicPr>
          <p:cNvPr id="16" name="Image 2" descr="/home/user/Rath/captures/06-camembert/01-anneau-defaut.png">    </p:cNvPr>
          <p:cNvPicPr>
            <a:picLocks noChangeAspect="1"/>
          </p:cNvPicPr>
          <p:nvPr/>
        </p:nvPicPr>
        <p:blipFill>
          <a:blip r:embed="rId3"/>
          <a:stretch>
            <a:fillRect/>
          </a:stretch>
        </p:blipFill>
        <p:spPr>
          <a:xfrm>
            <a:off x="8439912" y="4331884"/>
            <a:ext cx="3099816" cy="12574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MODE D'EMPLOI</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Quatre gestes, et c'est spécifié</a:t>
            </a:r>
            <a:endParaRPr lang="en-US" sz="2600" dirty="0"/>
          </a:p>
        </p:txBody>
      </p:sp>
      <p:sp>
        <p:nvSpPr>
          <p:cNvPr id="4" name="Shape 2"/>
          <p:cNvSpPr/>
          <p:nvPr/>
        </p:nvSpPr>
        <p:spPr>
          <a:xfrm>
            <a:off x="457200" y="1600200"/>
            <a:ext cx="2613584" cy="3017520"/>
          </a:xfrm>
          <a:prstGeom prst="roundRect">
            <a:avLst>
              <a:gd name="adj" fmla="val 2099"/>
            </a:avLst>
          </a:prstGeom>
          <a:solidFill>
            <a:srgbClr val="F5F7F9"/>
          </a:solidFill>
          <a:ln w="9525">
            <a:solidFill>
              <a:srgbClr val="DCE1E7"/>
            </a:solidFill>
            <a:prstDash val="solid"/>
          </a:ln>
        </p:spPr>
      </p:sp>
      <p:sp>
        <p:nvSpPr>
          <p:cNvPr id="5" name="Shape 3"/>
          <p:cNvSpPr/>
          <p:nvPr/>
        </p:nvSpPr>
        <p:spPr>
          <a:xfrm>
            <a:off x="713232" y="1874520"/>
            <a:ext cx="384048" cy="384048"/>
          </a:xfrm>
          <a:prstGeom prst="ellipse">
            <a:avLst/>
          </a:prstGeom>
          <a:solidFill>
            <a:srgbClr val="E2622C"/>
          </a:solidFill>
          <a:ln w="12700">
            <a:solidFill>
              <a:srgbClr val="E2622C"/>
            </a:solidFill>
            <a:prstDash val="solid"/>
          </a:ln>
        </p:spPr>
      </p:sp>
      <p:sp>
        <p:nvSpPr>
          <p:cNvPr id="6" name="Text 4"/>
          <p:cNvSpPr txBox="1"/>
          <p:nvPr/>
        </p:nvSpPr>
        <p:spPr>
          <a:xfrm>
            <a:off x="713232"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13232" y="2395728"/>
            <a:ext cx="2101520" cy="329184"/>
          </a:xfrm>
          <a:prstGeom prst="rect">
            <a:avLst/>
          </a:prstGeom>
          <a:noFill/>
          <a:ln/>
        </p:spPr>
        <p:txBody>
          <a:bodyPr wrap="square" lIns="0" tIns="0" rIns="0" bIns="0" rtlCol="0" anchor="ctr"/>
          <a:lstStyle/>
          <a:p>
            <a:pPr indent="0" marL="0">
              <a:buNone/>
            </a:pPr>
            <a:r>
              <a:rPr lang="en-US" sz="1700" b="1" dirty="0">
                <a:solidFill>
                  <a:srgbClr val="232936"/>
                </a:solidFill>
                <a:latin typeface="Cambria" pitchFamily="34" charset="0"/>
                <a:ea typeface="Cambria" pitchFamily="34" charset="-122"/>
                <a:cs typeface="Cambria" pitchFamily="34" charset="-120"/>
              </a:rPr>
              <a:t>Choisissez</a:t>
            </a:r>
            <a:endParaRPr lang="en-US" sz="1700" dirty="0"/>
          </a:p>
        </p:txBody>
      </p:sp>
      <p:sp>
        <p:nvSpPr>
          <p:cNvPr id="8" name="Text 6"/>
          <p:cNvSpPr txBox="1"/>
          <p:nvPr/>
        </p:nvSpPr>
        <p:spPr>
          <a:xfrm>
            <a:off x="713232" y="2761488"/>
            <a:ext cx="2101520" cy="1828800"/>
          </a:xfrm>
          <a:prstGeom prst="rect">
            <a:avLst/>
          </a:prstGeom>
          <a:noFill/>
          <a:ln/>
        </p:spPr>
        <p:txBody>
          <a:bodyPr wrap="square" lIns="0" tIns="0" rIns="0" bIns="0" rtlCol="0" anchor="ctr"/>
          <a:lstStyle/>
          <a:p>
            <a:pPr indent="0" marL="0">
              <a:lnSpc>
                <a:spcPts val="1800"/>
              </a:lnSpc>
              <a:buNone/>
            </a:pPr>
            <a:r>
              <a:rPr lang="en-US" sz="1200" dirty="0">
                <a:solidFill>
                  <a:srgbClr val="343B4C"/>
                </a:solidFill>
                <a:latin typeface="Calibri" pitchFamily="34" charset="0"/>
                <a:ea typeface="Calibri" pitchFamily="34" charset="-122"/>
                <a:cs typeface="Calibri" pitchFamily="34" charset="-120"/>
              </a:rPr>
              <a:t>Feuilletez l'annexe (pages 10 à 33) : 12 types de graphiques, chacun décliné. Cliquez sur l'image qui vous va, puis Ctrl+C.</a:t>
            </a:r>
            <a:endParaRPr lang="en-US" sz="1200" dirty="0"/>
          </a:p>
        </p:txBody>
      </p:sp>
      <p:sp>
        <p:nvSpPr>
          <p:cNvPr id="9" name="Shape 7"/>
          <p:cNvSpPr/>
          <p:nvPr/>
        </p:nvSpPr>
        <p:spPr>
          <a:xfrm>
            <a:off x="3345104" y="1600200"/>
            <a:ext cx="2613584" cy="3017520"/>
          </a:xfrm>
          <a:prstGeom prst="roundRect">
            <a:avLst>
              <a:gd name="adj" fmla="val 2099"/>
            </a:avLst>
          </a:prstGeom>
          <a:solidFill>
            <a:srgbClr val="F5F7F9"/>
          </a:solidFill>
          <a:ln w="9525">
            <a:solidFill>
              <a:srgbClr val="DCE1E7"/>
            </a:solidFill>
            <a:prstDash val="solid"/>
          </a:ln>
        </p:spPr>
      </p:sp>
      <p:sp>
        <p:nvSpPr>
          <p:cNvPr id="10" name="Shape 8"/>
          <p:cNvSpPr/>
          <p:nvPr/>
        </p:nvSpPr>
        <p:spPr>
          <a:xfrm>
            <a:off x="3601136" y="1874520"/>
            <a:ext cx="384048" cy="384048"/>
          </a:xfrm>
          <a:prstGeom prst="ellipse">
            <a:avLst/>
          </a:prstGeom>
          <a:solidFill>
            <a:srgbClr val="E2622C"/>
          </a:solidFill>
          <a:ln w="12700">
            <a:solidFill>
              <a:srgbClr val="E2622C"/>
            </a:solidFill>
            <a:prstDash val="solid"/>
          </a:ln>
        </p:spPr>
      </p:sp>
      <p:sp>
        <p:nvSpPr>
          <p:cNvPr id="11" name="Text 9"/>
          <p:cNvSpPr txBox="1"/>
          <p:nvPr/>
        </p:nvSpPr>
        <p:spPr>
          <a:xfrm>
            <a:off x="3601136"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601136" y="2395728"/>
            <a:ext cx="2101520" cy="329184"/>
          </a:xfrm>
          <a:prstGeom prst="rect">
            <a:avLst/>
          </a:prstGeom>
          <a:noFill/>
          <a:ln/>
        </p:spPr>
        <p:txBody>
          <a:bodyPr wrap="square" lIns="0" tIns="0" rIns="0" bIns="0" rtlCol="0" anchor="ctr"/>
          <a:lstStyle/>
          <a:p>
            <a:pPr indent="0" marL="0">
              <a:buNone/>
            </a:pPr>
            <a:r>
              <a:rPr lang="en-US" sz="1700" b="1" dirty="0">
                <a:solidFill>
                  <a:srgbClr val="232936"/>
                </a:solidFill>
                <a:latin typeface="Cambria" pitchFamily="34" charset="0"/>
                <a:ea typeface="Cambria" pitchFamily="34" charset="-122"/>
                <a:cs typeface="Cambria" pitchFamily="34" charset="-120"/>
              </a:rPr>
              <a:t>Posez</a:t>
            </a:r>
            <a:endParaRPr lang="en-US" sz="1700" dirty="0"/>
          </a:p>
        </p:txBody>
      </p:sp>
      <p:sp>
        <p:nvSpPr>
          <p:cNvPr id="13" name="Text 11"/>
          <p:cNvSpPr txBox="1"/>
          <p:nvPr/>
        </p:nvSpPr>
        <p:spPr>
          <a:xfrm>
            <a:off x="3601136" y="2761488"/>
            <a:ext cx="2101520" cy="1828800"/>
          </a:xfrm>
          <a:prstGeom prst="rect">
            <a:avLst/>
          </a:prstGeom>
          <a:noFill/>
          <a:ln/>
        </p:spPr>
        <p:txBody>
          <a:bodyPr wrap="square" lIns="0" tIns="0" rIns="0" bIns="0" rtlCol="0" anchor="ctr"/>
          <a:lstStyle/>
          <a:p>
            <a:pPr indent="0" marL="0">
              <a:lnSpc>
                <a:spcPts val="1800"/>
              </a:lnSpc>
              <a:buNone/>
            </a:pPr>
            <a:r>
              <a:rPr lang="en-US" sz="1200" dirty="0">
                <a:solidFill>
                  <a:srgbClr val="343B4C"/>
                </a:solidFill>
                <a:latin typeface="Calibri" pitchFamily="34" charset="0"/>
                <a:ea typeface="Calibri" pitchFamily="34" charset="-122"/>
                <a:cs typeface="Calibri" pitchFamily="34" charset="-120"/>
              </a:rPr>
              <a:t>Allez sur un gabarit (pages 5 à 8), collez l'image dans un cadre en pointillés, supprimez le cadre et redimensionnez.</a:t>
            </a:r>
            <a:endParaRPr lang="en-US" sz="1200" dirty="0"/>
          </a:p>
        </p:txBody>
      </p:sp>
      <p:sp>
        <p:nvSpPr>
          <p:cNvPr id="14" name="Shape 12"/>
          <p:cNvSpPr/>
          <p:nvPr/>
        </p:nvSpPr>
        <p:spPr>
          <a:xfrm>
            <a:off x="6233008" y="1600200"/>
            <a:ext cx="2613584" cy="3017520"/>
          </a:xfrm>
          <a:prstGeom prst="roundRect">
            <a:avLst>
              <a:gd name="adj" fmla="val 2099"/>
            </a:avLst>
          </a:prstGeom>
          <a:solidFill>
            <a:srgbClr val="F5F7F9"/>
          </a:solidFill>
          <a:ln w="9525">
            <a:solidFill>
              <a:srgbClr val="DCE1E7"/>
            </a:solidFill>
            <a:prstDash val="solid"/>
          </a:ln>
        </p:spPr>
      </p:sp>
      <p:sp>
        <p:nvSpPr>
          <p:cNvPr id="15" name="Shape 13"/>
          <p:cNvSpPr/>
          <p:nvPr/>
        </p:nvSpPr>
        <p:spPr>
          <a:xfrm>
            <a:off x="6489040" y="1874520"/>
            <a:ext cx="384048" cy="384048"/>
          </a:xfrm>
          <a:prstGeom prst="ellipse">
            <a:avLst/>
          </a:prstGeom>
          <a:solidFill>
            <a:srgbClr val="E2622C"/>
          </a:solidFill>
          <a:ln w="12700">
            <a:solidFill>
              <a:srgbClr val="E2622C"/>
            </a:solidFill>
            <a:prstDash val="solid"/>
          </a:ln>
        </p:spPr>
      </p:sp>
      <p:sp>
        <p:nvSpPr>
          <p:cNvPr id="16" name="Text 14"/>
          <p:cNvSpPr txBox="1"/>
          <p:nvPr/>
        </p:nvSpPr>
        <p:spPr>
          <a:xfrm>
            <a:off x="648904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489040" y="2395728"/>
            <a:ext cx="2101520" cy="329184"/>
          </a:xfrm>
          <a:prstGeom prst="rect">
            <a:avLst/>
          </a:prstGeom>
          <a:noFill/>
          <a:ln/>
        </p:spPr>
        <p:txBody>
          <a:bodyPr wrap="square" lIns="0" tIns="0" rIns="0" bIns="0" rtlCol="0" anchor="ctr"/>
          <a:lstStyle/>
          <a:p>
            <a:pPr indent="0" marL="0">
              <a:buNone/>
            </a:pPr>
            <a:r>
              <a:rPr lang="en-US" sz="1700" b="1" dirty="0">
                <a:solidFill>
                  <a:srgbClr val="232936"/>
                </a:solidFill>
                <a:latin typeface="Cambria" pitchFamily="34" charset="0"/>
                <a:ea typeface="Cambria" pitchFamily="34" charset="-122"/>
                <a:cs typeface="Cambria" pitchFamily="34" charset="-120"/>
              </a:rPr>
              <a:t>Décrivez</a:t>
            </a:r>
            <a:endParaRPr lang="en-US" sz="1700" dirty="0"/>
          </a:p>
        </p:txBody>
      </p:sp>
      <p:sp>
        <p:nvSpPr>
          <p:cNvPr id="18" name="Text 16"/>
          <p:cNvSpPr txBox="1"/>
          <p:nvPr/>
        </p:nvSpPr>
        <p:spPr>
          <a:xfrm>
            <a:off x="6489040" y="2761488"/>
            <a:ext cx="2101520" cy="1828800"/>
          </a:xfrm>
          <a:prstGeom prst="rect">
            <a:avLst/>
          </a:prstGeom>
          <a:noFill/>
          <a:ln/>
        </p:spPr>
        <p:txBody>
          <a:bodyPr wrap="square" lIns="0" tIns="0" rIns="0" bIns="0" rtlCol="0" anchor="ctr"/>
          <a:lstStyle/>
          <a:p>
            <a:pPr indent="0" marL="0">
              <a:lnSpc>
                <a:spcPts val="1800"/>
              </a:lnSpc>
              <a:buNone/>
            </a:pPr>
            <a:r>
              <a:rPr lang="en-US" sz="1200" dirty="0">
                <a:solidFill>
                  <a:srgbClr val="343B4C"/>
                </a:solidFill>
                <a:latin typeface="Calibri" pitchFamily="34" charset="0"/>
                <a:ea typeface="Calibri" pitchFamily="34" charset="-122"/>
                <a:cs typeface="Calibri" pitchFamily="34" charset="-120"/>
              </a:rPr>
              <a:t>Sous la diapositive, la zone Commentaires contient déjà une fiche par zone. Remplissez-la : titre, mesure, axes, filtres…</a:t>
            </a:r>
            <a:endParaRPr lang="en-US" sz="1200" dirty="0"/>
          </a:p>
        </p:txBody>
      </p:sp>
      <p:sp>
        <p:nvSpPr>
          <p:cNvPr id="19" name="Shape 17"/>
          <p:cNvSpPr/>
          <p:nvPr/>
        </p:nvSpPr>
        <p:spPr>
          <a:xfrm>
            <a:off x="9120911" y="1600200"/>
            <a:ext cx="2613584" cy="3017520"/>
          </a:xfrm>
          <a:prstGeom prst="roundRect">
            <a:avLst>
              <a:gd name="adj" fmla="val 2099"/>
            </a:avLst>
          </a:prstGeom>
          <a:solidFill>
            <a:srgbClr val="F5F7F9"/>
          </a:solidFill>
          <a:ln w="9525">
            <a:solidFill>
              <a:srgbClr val="DCE1E7"/>
            </a:solidFill>
            <a:prstDash val="solid"/>
          </a:ln>
        </p:spPr>
      </p:sp>
      <p:sp>
        <p:nvSpPr>
          <p:cNvPr id="20" name="Shape 18"/>
          <p:cNvSpPr/>
          <p:nvPr/>
        </p:nvSpPr>
        <p:spPr>
          <a:xfrm>
            <a:off x="9376943" y="1874520"/>
            <a:ext cx="384048" cy="384048"/>
          </a:xfrm>
          <a:prstGeom prst="ellipse">
            <a:avLst/>
          </a:prstGeom>
          <a:solidFill>
            <a:srgbClr val="E2622C"/>
          </a:solidFill>
          <a:ln w="12700">
            <a:solidFill>
              <a:srgbClr val="E2622C"/>
            </a:solidFill>
            <a:prstDash val="solid"/>
          </a:ln>
        </p:spPr>
      </p:sp>
      <p:sp>
        <p:nvSpPr>
          <p:cNvPr id="21" name="Text 19"/>
          <p:cNvSpPr txBox="1"/>
          <p:nvPr/>
        </p:nvSpPr>
        <p:spPr>
          <a:xfrm>
            <a:off x="9376943"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9376943" y="2395728"/>
            <a:ext cx="2101520" cy="329184"/>
          </a:xfrm>
          <a:prstGeom prst="rect">
            <a:avLst/>
          </a:prstGeom>
          <a:noFill/>
          <a:ln/>
        </p:spPr>
        <p:txBody>
          <a:bodyPr wrap="square" lIns="0" tIns="0" rIns="0" bIns="0" rtlCol="0" anchor="ctr"/>
          <a:lstStyle/>
          <a:p>
            <a:pPr indent="0" marL="0">
              <a:buNone/>
            </a:pPr>
            <a:r>
              <a:rPr lang="en-US" sz="1700" b="1" dirty="0">
                <a:solidFill>
                  <a:srgbClr val="232936"/>
                </a:solidFill>
                <a:latin typeface="Cambria" pitchFamily="34" charset="0"/>
                <a:ea typeface="Cambria" pitchFamily="34" charset="-122"/>
                <a:cs typeface="Cambria" pitchFamily="34" charset="-120"/>
              </a:rPr>
              <a:t>Renvoyez</a:t>
            </a:r>
            <a:endParaRPr lang="en-US" sz="1700" dirty="0"/>
          </a:p>
        </p:txBody>
      </p:sp>
      <p:sp>
        <p:nvSpPr>
          <p:cNvPr id="23" name="Text 21"/>
          <p:cNvSpPr txBox="1"/>
          <p:nvPr/>
        </p:nvSpPr>
        <p:spPr>
          <a:xfrm>
            <a:off x="9376943" y="2761488"/>
            <a:ext cx="2101520" cy="1828800"/>
          </a:xfrm>
          <a:prstGeom prst="rect">
            <a:avLst/>
          </a:prstGeom>
          <a:noFill/>
          <a:ln/>
        </p:spPr>
        <p:txBody>
          <a:bodyPr wrap="square" lIns="0" tIns="0" rIns="0" bIns="0" rtlCol="0" anchor="ctr"/>
          <a:lstStyle/>
          <a:p>
            <a:pPr indent="0" marL="0">
              <a:lnSpc>
                <a:spcPts val="1800"/>
              </a:lnSpc>
              <a:buNone/>
            </a:pPr>
            <a:r>
              <a:rPr lang="en-US" sz="1200" dirty="0">
                <a:solidFill>
                  <a:srgbClr val="343B4C"/>
                </a:solidFill>
                <a:latin typeface="Calibri" pitchFamily="34" charset="0"/>
                <a:ea typeface="Calibri" pitchFamily="34" charset="-122"/>
                <a:cs typeface="Calibri" pitchFamily="34" charset="-120"/>
              </a:rPr>
              <a:t>Une page = un écran. Le fichier rendu vaut cahier des charges : chaque graphique y est nommé, situé et paramétré.</a:t>
            </a:r>
            <a:endParaRPr lang="en-US" sz="1200" dirty="0"/>
          </a:p>
        </p:txBody>
      </p:sp>
      <p:sp>
        <p:nvSpPr>
          <p:cNvPr id="24" name="Shape 22"/>
          <p:cNvSpPr/>
          <p:nvPr/>
        </p:nvSpPr>
        <p:spPr>
          <a:xfrm>
            <a:off x="457200" y="4983480"/>
            <a:ext cx="11277295" cy="1051560"/>
          </a:xfrm>
          <a:prstGeom prst="roundRect">
            <a:avLst>
              <a:gd name="adj" fmla="val 5217"/>
            </a:avLst>
          </a:prstGeom>
          <a:solidFill>
            <a:srgbClr val="232936"/>
          </a:solidFill>
          <a:ln w="12700">
            <a:solidFill>
              <a:srgbClr val="232936"/>
            </a:solidFill>
            <a:prstDash val="solid"/>
          </a:ln>
        </p:spPr>
      </p:sp>
      <p:sp>
        <p:nvSpPr>
          <p:cNvPr id="25" name="Text 23"/>
          <p:cNvSpPr txBox="1"/>
          <p:nvPr/>
        </p:nvSpPr>
        <p:spPr>
          <a:xfrm>
            <a:off x="777240" y="5166360"/>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Où est la zone Commentaires ?</a:t>
            </a:r>
            <a:endParaRPr lang="en-US" sz="1400" dirty="0"/>
          </a:p>
        </p:txBody>
      </p:sp>
      <p:sp>
        <p:nvSpPr>
          <p:cNvPr id="26" name="Text 24"/>
          <p:cNvSpPr txBox="1"/>
          <p:nvPr/>
        </p:nvSpPr>
        <p:spPr>
          <a:xfrm>
            <a:off x="777240" y="5449824"/>
            <a:ext cx="10637215" cy="457200"/>
          </a:xfrm>
          <a:prstGeom prst="rect">
            <a:avLst/>
          </a:prstGeom>
          <a:noFill/>
          <a:ln/>
        </p:spPr>
        <p:txBody>
          <a:bodyPr wrap="square" lIns="0" tIns="0" rIns="0" bIns="0" rtlCol="0" anchor="ctr"/>
          <a:lstStyle/>
          <a:p>
            <a:pPr indent="0" marL="0">
              <a:buNone/>
            </a:pPr>
            <a:r>
              <a:rPr lang="en-US" sz="1200" dirty="0">
                <a:solidFill>
                  <a:srgbClr val="C3CAD6"/>
                </a:solidFill>
                <a:latin typeface="Calibri" pitchFamily="34" charset="0"/>
                <a:ea typeface="Calibri" pitchFamily="34" charset="-122"/>
                <a:cs typeface="Calibri" pitchFamily="34" charset="-120"/>
              </a:rPr>
              <a:t>Sous la diapositive, en mode Normal. Si elle n'apparaît pas : onglet Affichage ▸ Notes, ou faites glisser vers le haut la bordure du bas de la fenêtre.</a:t>
            </a:r>
            <a:endParaRPr lang="en-US" sz="12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LA FICHE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Ce qu'on vous demande pour chaque graphique</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Recopiée automatiquement dans les commentaires de chaque gabarit — ici pour mémoire.</a:t>
            </a:r>
            <a:endParaRPr lang="en-US" sz="1200" dirty="0"/>
          </a:p>
        </p:txBody>
      </p:sp>
      <p:sp>
        <p:nvSpPr>
          <p:cNvPr id="5" name="Text 3"/>
          <p:cNvSpPr txBox="1"/>
          <p:nvPr/>
        </p:nvSpPr>
        <p:spPr>
          <a:xfrm>
            <a:off x="457200" y="1481328"/>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Graphique choisi (dossier / fichier)</a:t>
            </a:r>
            <a:endParaRPr lang="en-US" sz="1150" dirty="0"/>
          </a:p>
        </p:txBody>
      </p:sp>
      <p:sp>
        <p:nvSpPr>
          <p:cNvPr id="6" name="Shape 4"/>
          <p:cNvSpPr/>
          <p:nvPr/>
        </p:nvSpPr>
        <p:spPr>
          <a:xfrm>
            <a:off x="3894334" y="1755648"/>
            <a:ext cx="2018634" cy="0"/>
          </a:xfrm>
          <a:prstGeom prst="line">
            <a:avLst/>
          </a:prstGeom>
          <a:noFill/>
          <a:ln w="12700">
            <a:solidFill>
              <a:srgbClr val="DCE1E7"/>
            </a:solidFill>
            <a:prstDash val="dash"/>
          </a:ln>
        </p:spPr>
      </p:sp>
      <p:sp>
        <p:nvSpPr>
          <p:cNvPr id="7" name="Text 5"/>
          <p:cNvSpPr txBox="1"/>
          <p:nvPr/>
        </p:nvSpPr>
        <p:spPr>
          <a:xfrm>
            <a:off x="457200" y="1965960"/>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Titre affiché</a:t>
            </a:r>
            <a:endParaRPr lang="en-US" sz="1150" dirty="0"/>
          </a:p>
        </p:txBody>
      </p:sp>
      <p:sp>
        <p:nvSpPr>
          <p:cNvPr id="8" name="Shape 6"/>
          <p:cNvSpPr/>
          <p:nvPr/>
        </p:nvSpPr>
        <p:spPr>
          <a:xfrm>
            <a:off x="3894334" y="2240280"/>
            <a:ext cx="2018634" cy="0"/>
          </a:xfrm>
          <a:prstGeom prst="line">
            <a:avLst/>
          </a:prstGeom>
          <a:noFill/>
          <a:ln w="12700">
            <a:solidFill>
              <a:srgbClr val="DCE1E7"/>
            </a:solidFill>
            <a:prstDash val="dash"/>
          </a:ln>
        </p:spPr>
      </p:sp>
      <p:sp>
        <p:nvSpPr>
          <p:cNvPr id="9" name="Text 7"/>
          <p:cNvSpPr txBox="1"/>
          <p:nvPr/>
        </p:nvSpPr>
        <p:spPr>
          <a:xfrm>
            <a:off x="457200" y="2450592"/>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Question à laquelle il répond</a:t>
            </a:r>
            <a:endParaRPr lang="en-US" sz="1150" dirty="0"/>
          </a:p>
        </p:txBody>
      </p:sp>
      <p:sp>
        <p:nvSpPr>
          <p:cNvPr id="10" name="Shape 8"/>
          <p:cNvSpPr/>
          <p:nvPr/>
        </p:nvSpPr>
        <p:spPr>
          <a:xfrm>
            <a:off x="3894334" y="2724912"/>
            <a:ext cx="2018634" cy="0"/>
          </a:xfrm>
          <a:prstGeom prst="line">
            <a:avLst/>
          </a:prstGeom>
          <a:noFill/>
          <a:ln w="12700">
            <a:solidFill>
              <a:srgbClr val="DCE1E7"/>
            </a:solidFill>
            <a:prstDash val="dash"/>
          </a:ln>
        </p:spPr>
      </p:sp>
      <p:sp>
        <p:nvSpPr>
          <p:cNvPr id="11" name="Text 9"/>
          <p:cNvSpPr txBox="1"/>
          <p:nvPr/>
        </p:nvSpPr>
        <p:spPr>
          <a:xfrm>
            <a:off x="457200" y="2935224"/>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Source / table</a:t>
            </a:r>
            <a:endParaRPr lang="en-US" sz="1150" dirty="0"/>
          </a:p>
        </p:txBody>
      </p:sp>
      <p:sp>
        <p:nvSpPr>
          <p:cNvPr id="12" name="Shape 10"/>
          <p:cNvSpPr/>
          <p:nvPr/>
        </p:nvSpPr>
        <p:spPr>
          <a:xfrm>
            <a:off x="3894334" y="3209544"/>
            <a:ext cx="2018634" cy="0"/>
          </a:xfrm>
          <a:prstGeom prst="line">
            <a:avLst/>
          </a:prstGeom>
          <a:noFill/>
          <a:ln w="12700">
            <a:solidFill>
              <a:srgbClr val="DCE1E7"/>
            </a:solidFill>
            <a:prstDash val="dash"/>
          </a:ln>
        </p:spPr>
      </p:sp>
      <p:sp>
        <p:nvSpPr>
          <p:cNvPr id="13" name="Text 11"/>
          <p:cNvSpPr txBox="1"/>
          <p:nvPr/>
        </p:nvSpPr>
        <p:spPr>
          <a:xfrm>
            <a:off x="457200" y="3419856"/>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Mesure(s) affichée(s)</a:t>
            </a:r>
            <a:endParaRPr lang="en-US" sz="1150" dirty="0"/>
          </a:p>
        </p:txBody>
      </p:sp>
      <p:sp>
        <p:nvSpPr>
          <p:cNvPr id="14" name="Shape 12"/>
          <p:cNvSpPr/>
          <p:nvPr/>
        </p:nvSpPr>
        <p:spPr>
          <a:xfrm>
            <a:off x="3894334" y="3694176"/>
            <a:ext cx="2018634" cy="0"/>
          </a:xfrm>
          <a:prstGeom prst="line">
            <a:avLst/>
          </a:prstGeom>
          <a:noFill/>
          <a:ln w="12700">
            <a:solidFill>
              <a:srgbClr val="DCE1E7"/>
            </a:solidFill>
            <a:prstDash val="dash"/>
          </a:ln>
        </p:spPr>
      </p:sp>
      <p:sp>
        <p:nvSpPr>
          <p:cNvPr id="15" name="Text 13"/>
          <p:cNvSpPr txBox="1"/>
          <p:nvPr/>
        </p:nvSpPr>
        <p:spPr>
          <a:xfrm>
            <a:off x="457200" y="3904488"/>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Agrégation (somme / moyenne / nombre…)</a:t>
            </a:r>
            <a:endParaRPr lang="en-US" sz="1150" dirty="0"/>
          </a:p>
        </p:txBody>
      </p:sp>
      <p:sp>
        <p:nvSpPr>
          <p:cNvPr id="16" name="Shape 14"/>
          <p:cNvSpPr/>
          <p:nvPr/>
        </p:nvSpPr>
        <p:spPr>
          <a:xfrm>
            <a:off x="3894334" y="4178808"/>
            <a:ext cx="2018634" cy="0"/>
          </a:xfrm>
          <a:prstGeom prst="line">
            <a:avLst/>
          </a:prstGeom>
          <a:noFill/>
          <a:ln w="12700">
            <a:solidFill>
              <a:srgbClr val="DCE1E7"/>
            </a:solidFill>
            <a:prstDash val="dash"/>
          </a:ln>
        </p:spPr>
      </p:sp>
      <p:sp>
        <p:nvSpPr>
          <p:cNvPr id="17" name="Text 15"/>
          <p:cNvSpPr txBox="1"/>
          <p:nvPr/>
        </p:nvSpPr>
        <p:spPr>
          <a:xfrm>
            <a:off x="457200" y="4389120"/>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Dimension (axe X ou parts)</a:t>
            </a:r>
            <a:endParaRPr lang="en-US" sz="1150" dirty="0"/>
          </a:p>
        </p:txBody>
      </p:sp>
      <p:sp>
        <p:nvSpPr>
          <p:cNvPr id="18" name="Shape 16"/>
          <p:cNvSpPr/>
          <p:nvPr/>
        </p:nvSpPr>
        <p:spPr>
          <a:xfrm>
            <a:off x="3894334" y="4663440"/>
            <a:ext cx="2018634" cy="0"/>
          </a:xfrm>
          <a:prstGeom prst="line">
            <a:avLst/>
          </a:prstGeom>
          <a:noFill/>
          <a:ln w="12700">
            <a:solidFill>
              <a:srgbClr val="DCE1E7"/>
            </a:solidFill>
            <a:prstDash val="dash"/>
          </a:ln>
        </p:spPr>
      </p:sp>
      <p:sp>
        <p:nvSpPr>
          <p:cNvPr id="19" name="Text 17"/>
          <p:cNvSpPr txBox="1"/>
          <p:nvPr/>
        </p:nvSpPr>
        <p:spPr>
          <a:xfrm>
            <a:off x="457200" y="4873752"/>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Éclatement par une 2ᵉ dimension</a:t>
            </a:r>
            <a:endParaRPr lang="en-US" sz="1150" dirty="0"/>
          </a:p>
        </p:txBody>
      </p:sp>
      <p:sp>
        <p:nvSpPr>
          <p:cNvPr id="20" name="Shape 18"/>
          <p:cNvSpPr/>
          <p:nvPr/>
        </p:nvSpPr>
        <p:spPr>
          <a:xfrm>
            <a:off x="3894334" y="5148072"/>
            <a:ext cx="2018634" cy="0"/>
          </a:xfrm>
          <a:prstGeom prst="line">
            <a:avLst/>
          </a:prstGeom>
          <a:noFill/>
          <a:ln w="12700">
            <a:solidFill>
              <a:srgbClr val="DCE1E7"/>
            </a:solidFill>
            <a:prstDash val="dash"/>
          </a:ln>
        </p:spPr>
      </p:sp>
      <p:sp>
        <p:nvSpPr>
          <p:cNvPr id="21" name="Text 19"/>
          <p:cNvSpPr txBox="1"/>
          <p:nvPr/>
        </p:nvSpPr>
        <p:spPr>
          <a:xfrm>
            <a:off x="457200" y="5358384"/>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Filtres appliqués</a:t>
            </a:r>
            <a:endParaRPr lang="en-US" sz="1150" dirty="0"/>
          </a:p>
        </p:txBody>
      </p:sp>
      <p:sp>
        <p:nvSpPr>
          <p:cNvPr id="22" name="Shape 20"/>
          <p:cNvSpPr/>
          <p:nvPr/>
        </p:nvSpPr>
        <p:spPr>
          <a:xfrm>
            <a:off x="3894334" y="5632704"/>
            <a:ext cx="2018634" cy="0"/>
          </a:xfrm>
          <a:prstGeom prst="line">
            <a:avLst/>
          </a:prstGeom>
          <a:noFill/>
          <a:ln w="12700">
            <a:solidFill>
              <a:srgbClr val="DCE1E7"/>
            </a:solidFill>
            <a:prstDash val="dash"/>
          </a:ln>
        </p:spPr>
      </p:sp>
      <p:sp>
        <p:nvSpPr>
          <p:cNvPr id="23" name="Text 21"/>
          <p:cNvSpPr txBox="1"/>
          <p:nvPr/>
        </p:nvSpPr>
        <p:spPr>
          <a:xfrm>
            <a:off x="6278728" y="1481328"/>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Période couverte</a:t>
            </a:r>
            <a:endParaRPr lang="en-US" sz="1150" dirty="0"/>
          </a:p>
        </p:txBody>
      </p:sp>
      <p:sp>
        <p:nvSpPr>
          <p:cNvPr id="24" name="Shape 22"/>
          <p:cNvSpPr/>
          <p:nvPr/>
        </p:nvSpPr>
        <p:spPr>
          <a:xfrm>
            <a:off x="9715861" y="1755648"/>
            <a:ext cx="2018634" cy="0"/>
          </a:xfrm>
          <a:prstGeom prst="line">
            <a:avLst/>
          </a:prstGeom>
          <a:noFill/>
          <a:ln w="12700">
            <a:solidFill>
              <a:srgbClr val="DCE1E7"/>
            </a:solidFill>
            <a:prstDash val="dash"/>
          </a:ln>
        </p:spPr>
      </p:sp>
      <p:sp>
        <p:nvSpPr>
          <p:cNvPr id="25" name="Text 23"/>
          <p:cNvSpPr txBox="1"/>
          <p:nvPr/>
        </p:nvSpPr>
        <p:spPr>
          <a:xfrm>
            <a:off x="6278728" y="1965960"/>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Tri</a:t>
            </a:r>
            <a:endParaRPr lang="en-US" sz="1150" dirty="0"/>
          </a:p>
        </p:txBody>
      </p:sp>
      <p:sp>
        <p:nvSpPr>
          <p:cNvPr id="26" name="Shape 24"/>
          <p:cNvSpPr/>
          <p:nvPr/>
        </p:nvSpPr>
        <p:spPr>
          <a:xfrm>
            <a:off x="9715861" y="2240280"/>
            <a:ext cx="2018634" cy="0"/>
          </a:xfrm>
          <a:prstGeom prst="line">
            <a:avLst/>
          </a:prstGeom>
          <a:noFill/>
          <a:ln w="12700">
            <a:solidFill>
              <a:srgbClr val="DCE1E7"/>
            </a:solidFill>
            <a:prstDash val="dash"/>
          </a:ln>
        </p:spPr>
      </p:sp>
      <p:sp>
        <p:nvSpPr>
          <p:cNvPr id="27" name="Text 25"/>
          <p:cNvSpPr txBox="1"/>
          <p:nvPr/>
        </p:nvSpPr>
        <p:spPr>
          <a:xfrm>
            <a:off x="6278728" y="2450592"/>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Nom de l'axe X</a:t>
            </a:r>
            <a:endParaRPr lang="en-US" sz="1150" dirty="0"/>
          </a:p>
        </p:txBody>
      </p:sp>
      <p:sp>
        <p:nvSpPr>
          <p:cNvPr id="28" name="Shape 26"/>
          <p:cNvSpPr/>
          <p:nvPr/>
        </p:nvSpPr>
        <p:spPr>
          <a:xfrm>
            <a:off x="9715861" y="2724912"/>
            <a:ext cx="2018634" cy="0"/>
          </a:xfrm>
          <a:prstGeom prst="line">
            <a:avLst/>
          </a:prstGeom>
          <a:noFill/>
          <a:ln w="12700">
            <a:solidFill>
              <a:srgbClr val="DCE1E7"/>
            </a:solidFill>
            <a:prstDash val="dash"/>
          </a:ln>
        </p:spPr>
      </p:sp>
      <p:sp>
        <p:nvSpPr>
          <p:cNvPr id="29" name="Text 27"/>
          <p:cNvSpPr txBox="1"/>
          <p:nvPr/>
        </p:nvSpPr>
        <p:spPr>
          <a:xfrm>
            <a:off x="6278728" y="2935224"/>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Nom de l'axe Y + unité</a:t>
            </a:r>
            <a:endParaRPr lang="en-US" sz="1150" dirty="0"/>
          </a:p>
        </p:txBody>
      </p:sp>
      <p:sp>
        <p:nvSpPr>
          <p:cNvPr id="30" name="Shape 28"/>
          <p:cNvSpPr/>
          <p:nvPr/>
        </p:nvSpPr>
        <p:spPr>
          <a:xfrm>
            <a:off x="9715861" y="3209544"/>
            <a:ext cx="2018634" cy="0"/>
          </a:xfrm>
          <a:prstGeom prst="line">
            <a:avLst/>
          </a:prstGeom>
          <a:noFill/>
          <a:ln w="12700">
            <a:solidFill>
              <a:srgbClr val="DCE1E7"/>
            </a:solidFill>
            <a:prstDash val="dash"/>
          </a:ln>
        </p:spPr>
      </p:sp>
      <p:sp>
        <p:nvSpPr>
          <p:cNvPr id="31" name="Text 29"/>
          <p:cNvSpPr txBox="1"/>
          <p:nvPr/>
        </p:nvSpPr>
        <p:spPr>
          <a:xfrm>
            <a:off x="6278728" y="3419856"/>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Format des valeurs (nombre / % / €)</a:t>
            </a:r>
            <a:endParaRPr lang="en-US" sz="1150" dirty="0"/>
          </a:p>
        </p:txBody>
      </p:sp>
      <p:sp>
        <p:nvSpPr>
          <p:cNvPr id="32" name="Shape 30"/>
          <p:cNvSpPr/>
          <p:nvPr/>
        </p:nvSpPr>
        <p:spPr>
          <a:xfrm>
            <a:off x="9715861" y="3694176"/>
            <a:ext cx="2018634" cy="0"/>
          </a:xfrm>
          <a:prstGeom prst="line">
            <a:avLst/>
          </a:prstGeom>
          <a:noFill/>
          <a:ln w="12700">
            <a:solidFill>
              <a:srgbClr val="DCE1E7"/>
            </a:solidFill>
            <a:prstDash val="dash"/>
          </a:ln>
        </p:spPr>
      </p:sp>
      <p:sp>
        <p:nvSpPr>
          <p:cNvPr id="33" name="Text 31"/>
          <p:cNvSpPr txBox="1"/>
          <p:nvPr/>
        </p:nvSpPr>
        <p:spPr>
          <a:xfrm>
            <a:off x="6278728" y="3904488"/>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Valeurs affichées sur le graphique (oui / non)</a:t>
            </a:r>
            <a:endParaRPr lang="en-US" sz="1150" dirty="0"/>
          </a:p>
        </p:txBody>
      </p:sp>
      <p:sp>
        <p:nvSpPr>
          <p:cNvPr id="34" name="Shape 32"/>
          <p:cNvSpPr/>
          <p:nvPr/>
        </p:nvSpPr>
        <p:spPr>
          <a:xfrm>
            <a:off x="9715861" y="4178808"/>
            <a:ext cx="2018634" cy="0"/>
          </a:xfrm>
          <a:prstGeom prst="line">
            <a:avLst/>
          </a:prstGeom>
          <a:noFill/>
          <a:ln w="12700">
            <a:solidFill>
              <a:srgbClr val="DCE1E7"/>
            </a:solidFill>
            <a:prstDash val="dash"/>
          </a:ln>
        </p:spPr>
      </p:sp>
      <p:sp>
        <p:nvSpPr>
          <p:cNvPr id="35" name="Text 33"/>
          <p:cNvSpPr txBox="1"/>
          <p:nvPr/>
        </p:nvSpPr>
        <p:spPr>
          <a:xfrm>
            <a:off x="6278728" y="4389120"/>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Légende (oui / non)</a:t>
            </a:r>
            <a:endParaRPr lang="en-US" sz="1150" dirty="0"/>
          </a:p>
        </p:txBody>
      </p:sp>
      <p:sp>
        <p:nvSpPr>
          <p:cNvPr id="36" name="Shape 34"/>
          <p:cNvSpPr/>
          <p:nvPr/>
        </p:nvSpPr>
        <p:spPr>
          <a:xfrm>
            <a:off x="9715861" y="4663440"/>
            <a:ext cx="2018634" cy="0"/>
          </a:xfrm>
          <a:prstGeom prst="line">
            <a:avLst/>
          </a:prstGeom>
          <a:noFill/>
          <a:ln w="12700">
            <a:solidFill>
              <a:srgbClr val="DCE1E7"/>
            </a:solidFill>
            <a:prstDash val="dash"/>
          </a:ln>
        </p:spPr>
      </p:sp>
      <p:sp>
        <p:nvSpPr>
          <p:cNvPr id="37" name="Text 35"/>
          <p:cNvSpPr txBox="1"/>
          <p:nvPr/>
        </p:nvSpPr>
        <p:spPr>
          <a:xfrm>
            <a:off x="6278728" y="4873752"/>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Ligne d'objectif</a:t>
            </a:r>
            <a:endParaRPr lang="en-US" sz="1150" dirty="0"/>
          </a:p>
        </p:txBody>
      </p:sp>
      <p:sp>
        <p:nvSpPr>
          <p:cNvPr id="38" name="Shape 36"/>
          <p:cNvSpPr/>
          <p:nvPr/>
        </p:nvSpPr>
        <p:spPr>
          <a:xfrm>
            <a:off x="9715861" y="5148072"/>
            <a:ext cx="2018634" cy="0"/>
          </a:xfrm>
          <a:prstGeom prst="line">
            <a:avLst/>
          </a:prstGeom>
          <a:noFill/>
          <a:ln w="12700">
            <a:solidFill>
              <a:srgbClr val="DCE1E7"/>
            </a:solidFill>
            <a:prstDash val="dash"/>
          </a:ln>
        </p:spPr>
      </p:sp>
      <p:sp>
        <p:nvSpPr>
          <p:cNvPr id="39" name="Text 37"/>
          <p:cNvSpPr txBox="1"/>
          <p:nvPr/>
        </p:nvSpPr>
        <p:spPr>
          <a:xfrm>
            <a:off x="6278728" y="5358384"/>
            <a:ext cx="3382576" cy="310896"/>
          </a:xfrm>
          <a:prstGeom prst="rect">
            <a:avLst/>
          </a:prstGeom>
          <a:noFill/>
          <a:ln/>
        </p:spPr>
        <p:txBody>
          <a:bodyPr wrap="square" lIns="0" tIns="0" rIns="0" bIns="0" rtlCol="0" anchor="ctr"/>
          <a:lstStyle/>
          <a:p>
            <a:pPr indent="0" marL="0">
              <a:buNone/>
            </a:pPr>
            <a:r>
              <a:rPr lang="en-US" sz="1150" dirty="0">
                <a:solidFill>
                  <a:srgbClr val="343B4C"/>
                </a:solidFill>
                <a:latin typeface="Calibri" pitchFamily="34" charset="0"/>
                <a:ea typeface="Calibri" pitchFamily="34" charset="-122"/>
                <a:cs typeface="Calibri" pitchFamily="34" charset="-120"/>
              </a:rPr>
              <a:t>Au clic (filtrer, ouvrir le détail, rien)</a:t>
            </a:r>
            <a:endParaRPr lang="en-US" sz="1150" dirty="0"/>
          </a:p>
        </p:txBody>
      </p:sp>
      <p:sp>
        <p:nvSpPr>
          <p:cNvPr id="40" name="Shape 38"/>
          <p:cNvSpPr/>
          <p:nvPr/>
        </p:nvSpPr>
        <p:spPr>
          <a:xfrm>
            <a:off x="9715861" y="5632704"/>
            <a:ext cx="2018634" cy="0"/>
          </a:xfrm>
          <a:prstGeom prst="line">
            <a:avLst/>
          </a:prstGeom>
          <a:noFill/>
          <a:ln w="12700">
            <a:solidFill>
              <a:srgbClr val="DCE1E7"/>
            </a:solidFill>
            <a:prstDash val="dash"/>
          </a:ln>
        </p:spPr>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REPÈRES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Quel graphique pour quelle intention ?</a:t>
            </a:r>
            <a:endParaRPr lang="en-US" sz="2600" dirty="0"/>
          </a:p>
        </p:txBody>
      </p:sp>
      <p:sp>
        <p:nvSpPr>
          <p:cNvPr id="4" name="Shape 2"/>
          <p:cNvSpPr/>
          <p:nvPr/>
        </p:nvSpPr>
        <p:spPr>
          <a:xfrm>
            <a:off x="457200" y="1417320"/>
            <a:ext cx="3576218" cy="2194560"/>
          </a:xfrm>
          <a:prstGeom prst="roundRect">
            <a:avLst>
              <a:gd name="adj" fmla="val 2500"/>
            </a:avLst>
          </a:prstGeom>
          <a:solidFill>
            <a:srgbClr val="F5F7F9"/>
          </a:solidFill>
          <a:ln w="9525">
            <a:solidFill>
              <a:srgbClr val="DCE1E7"/>
            </a:solidFill>
            <a:prstDash val="solid"/>
          </a:ln>
        </p:spPr>
      </p:sp>
      <p:pic>
        <p:nvPicPr>
          <p:cNvPr id="5" name="Image 0" descr="/home/user/Rath/captures/01-barres/01-groupees.png">    </p:cNvPr>
          <p:cNvPicPr>
            <a:picLocks noChangeAspect="1"/>
          </p:cNvPicPr>
          <p:nvPr/>
        </p:nvPicPr>
        <p:blipFill>
          <a:blip r:embed="rId1"/>
          <a:stretch>
            <a:fillRect/>
          </a:stretch>
        </p:blipFill>
        <p:spPr>
          <a:xfrm>
            <a:off x="1097913" y="1527048"/>
            <a:ext cx="2294792" cy="1325880"/>
          </a:xfrm>
          <a:prstGeom prst="rect">
            <a:avLst/>
          </a:prstGeom>
        </p:spPr>
      </p:pic>
      <p:sp>
        <p:nvSpPr>
          <p:cNvPr id="6" name="Text 3"/>
          <p:cNvSpPr txBox="1"/>
          <p:nvPr/>
        </p:nvSpPr>
        <p:spPr>
          <a:xfrm>
            <a:off x="621792" y="2898648"/>
            <a:ext cx="3247034" cy="274320"/>
          </a:xfrm>
          <a:prstGeom prst="rect">
            <a:avLst/>
          </a:prstGeom>
          <a:noFill/>
          <a:ln/>
        </p:spPr>
        <p:txBody>
          <a:bodyPr wrap="square" lIns="0" tIns="0" rIns="0" bIns="0" rtlCol="0" anchor="ctr"/>
          <a:lstStyle/>
          <a:p>
            <a:pPr indent="0" marL="0">
              <a:buNone/>
            </a:pPr>
            <a:r>
              <a:rPr lang="en-US" sz="1400" b="1" dirty="0">
                <a:solidFill>
                  <a:srgbClr val="232936"/>
                </a:solidFill>
                <a:latin typeface="Cambria" pitchFamily="34" charset="0"/>
                <a:ea typeface="Cambria" pitchFamily="34" charset="-122"/>
                <a:cs typeface="Cambria" pitchFamily="34" charset="-120"/>
              </a:rPr>
              <a:t>Comparer des catégories</a:t>
            </a:r>
            <a:endParaRPr lang="en-US" sz="1400" dirty="0"/>
          </a:p>
        </p:txBody>
      </p:sp>
      <p:sp>
        <p:nvSpPr>
          <p:cNvPr id="7" name="Text 4"/>
          <p:cNvSpPr txBox="1"/>
          <p:nvPr/>
        </p:nvSpPr>
        <p:spPr>
          <a:xfrm>
            <a:off x="621792" y="3191256"/>
            <a:ext cx="3247034" cy="256032"/>
          </a:xfrm>
          <a:prstGeom prst="rect">
            <a:avLst/>
          </a:prstGeom>
          <a:noFill/>
          <a:ln/>
        </p:spPr>
        <p:txBody>
          <a:bodyPr wrap="square" lIns="0" tIns="0" rIns="0" bIns="0" rtlCol="0" anchor="ctr"/>
          <a:lstStyle/>
          <a:p>
            <a:pPr indent="0" marL="0">
              <a:buNone/>
            </a:pPr>
            <a:r>
              <a:rPr lang="en-US" sz="1100" dirty="0">
                <a:solidFill>
                  <a:srgbClr val="E2622C"/>
                </a:solidFill>
                <a:latin typeface="Calibri" pitchFamily="34" charset="0"/>
                <a:ea typeface="Calibri" pitchFamily="34" charset="-122"/>
                <a:cs typeface="Calibri" pitchFamily="34" charset="-120"/>
              </a:rPr>
              <a:t>Barres · p. 10</a:t>
            </a:r>
            <a:endParaRPr lang="en-US" sz="1100" dirty="0"/>
          </a:p>
        </p:txBody>
      </p:sp>
      <p:sp>
        <p:nvSpPr>
          <p:cNvPr id="8" name="Shape 5"/>
          <p:cNvSpPr/>
          <p:nvPr/>
        </p:nvSpPr>
        <p:spPr>
          <a:xfrm>
            <a:off x="4307738" y="1417320"/>
            <a:ext cx="3576218" cy="2194560"/>
          </a:xfrm>
          <a:prstGeom prst="roundRect">
            <a:avLst>
              <a:gd name="adj" fmla="val 2500"/>
            </a:avLst>
          </a:prstGeom>
          <a:solidFill>
            <a:srgbClr val="F5F7F9"/>
          </a:solidFill>
          <a:ln w="9525">
            <a:solidFill>
              <a:srgbClr val="DCE1E7"/>
            </a:solidFill>
            <a:prstDash val="solid"/>
          </a:ln>
        </p:spPr>
      </p:sp>
      <p:pic>
        <p:nvPicPr>
          <p:cNvPr id="9" name="Image 1" descr="/home/user/Rath/captures/03-courbe/01-defaut.png">    </p:cNvPr>
          <p:cNvPicPr>
            <a:picLocks noChangeAspect="1"/>
          </p:cNvPicPr>
          <p:nvPr/>
        </p:nvPicPr>
        <p:blipFill>
          <a:blip r:embed="rId2"/>
          <a:stretch>
            <a:fillRect/>
          </a:stretch>
        </p:blipFill>
        <p:spPr>
          <a:xfrm>
            <a:off x="4948451" y="1527048"/>
            <a:ext cx="2294792" cy="1325880"/>
          </a:xfrm>
          <a:prstGeom prst="rect">
            <a:avLst/>
          </a:prstGeom>
        </p:spPr>
      </p:pic>
      <p:sp>
        <p:nvSpPr>
          <p:cNvPr id="10" name="Text 6"/>
          <p:cNvSpPr txBox="1"/>
          <p:nvPr/>
        </p:nvSpPr>
        <p:spPr>
          <a:xfrm>
            <a:off x="4472330" y="2898648"/>
            <a:ext cx="3247034" cy="274320"/>
          </a:xfrm>
          <a:prstGeom prst="rect">
            <a:avLst/>
          </a:prstGeom>
          <a:noFill/>
          <a:ln/>
        </p:spPr>
        <p:txBody>
          <a:bodyPr wrap="square" lIns="0" tIns="0" rIns="0" bIns="0" rtlCol="0" anchor="ctr"/>
          <a:lstStyle/>
          <a:p>
            <a:pPr indent="0" marL="0">
              <a:buNone/>
            </a:pPr>
            <a:r>
              <a:rPr lang="en-US" sz="1400" b="1" dirty="0">
                <a:solidFill>
                  <a:srgbClr val="232936"/>
                </a:solidFill>
                <a:latin typeface="Cambria" pitchFamily="34" charset="0"/>
                <a:ea typeface="Cambria" pitchFamily="34" charset="-122"/>
                <a:cs typeface="Cambria" pitchFamily="34" charset="-120"/>
              </a:rPr>
              <a:t>Suivre une évolution</a:t>
            </a:r>
            <a:endParaRPr lang="en-US" sz="1400" dirty="0"/>
          </a:p>
        </p:txBody>
      </p:sp>
      <p:sp>
        <p:nvSpPr>
          <p:cNvPr id="11" name="Text 7"/>
          <p:cNvSpPr txBox="1"/>
          <p:nvPr/>
        </p:nvSpPr>
        <p:spPr>
          <a:xfrm>
            <a:off x="4472330" y="3191256"/>
            <a:ext cx="3247034" cy="256032"/>
          </a:xfrm>
          <a:prstGeom prst="rect">
            <a:avLst/>
          </a:prstGeom>
          <a:noFill/>
          <a:ln/>
        </p:spPr>
        <p:txBody>
          <a:bodyPr wrap="square" lIns="0" tIns="0" rIns="0" bIns="0" rtlCol="0" anchor="ctr"/>
          <a:lstStyle/>
          <a:p>
            <a:pPr indent="0" marL="0">
              <a:buNone/>
            </a:pPr>
            <a:r>
              <a:rPr lang="en-US" sz="1100" dirty="0">
                <a:solidFill>
                  <a:srgbClr val="E2622C"/>
                </a:solidFill>
                <a:latin typeface="Calibri" pitchFamily="34" charset="0"/>
                <a:ea typeface="Calibri" pitchFamily="34" charset="-122"/>
                <a:cs typeface="Calibri" pitchFamily="34" charset="-120"/>
              </a:rPr>
              <a:t>Courbe · p. 16</a:t>
            </a:r>
            <a:endParaRPr lang="en-US" sz="1100" dirty="0"/>
          </a:p>
        </p:txBody>
      </p:sp>
      <p:sp>
        <p:nvSpPr>
          <p:cNvPr id="12" name="Shape 8"/>
          <p:cNvSpPr/>
          <p:nvPr/>
        </p:nvSpPr>
        <p:spPr>
          <a:xfrm>
            <a:off x="8158277" y="1417320"/>
            <a:ext cx="3576218" cy="2194560"/>
          </a:xfrm>
          <a:prstGeom prst="roundRect">
            <a:avLst>
              <a:gd name="adj" fmla="val 2500"/>
            </a:avLst>
          </a:prstGeom>
          <a:solidFill>
            <a:srgbClr val="F5F7F9"/>
          </a:solidFill>
          <a:ln w="9525">
            <a:solidFill>
              <a:srgbClr val="DCE1E7"/>
            </a:solidFill>
            <a:prstDash val="solid"/>
          </a:ln>
        </p:spPr>
      </p:sp>
      <p:pic>
        <p:nvPicPr>
          <p:cNvPr id="13" name="Image 2" descr="/home/user/Rath/captures/04-aire/03-empilee-100.png">    </p:cNvPr>
          <p:cNvPicPr>
            <a:picLocks noChangeAspect="1"/>
          </p:cNvPicPr>
          <p:nvPr/>
        </p:nvPicPr>
        <p:blipFill>
          <a:blip r:embed="rId3"/>
          <a:stretch>
            <a:fillRect/>
          </a:stretch>
        </p:blipFill>
        <p:spPr>
          <a:xfrm>
            <a:off x="8798990" y="1527048"/>
            <a:ext cx="2294792" cy="1325880"/>
          </a:xfrm>
          <a:prstGeom prst="rect">
            <a:avLst/>
          </a:prstGeom>
        </p:spPr>
      </p:pic>
      <p:sp>
        <p:nvSpPr>
          <p:cNvPr id="14" name="Text 9"/>
          <p:cNvSpPr txBox="1"/>
          <p:nvPr/>
        </p:nvSpPr>
        <p:spPr>
          <a:xfrm>
            <a:off x="8322869" y="2898648"/>
            <a:ext cx="3247034" cy="274320"/>
          </a:xfrm>
          <a:prstGeom prst="rect">
            <a:avLst/>
          </a:prstGeom>
          <a:noFill/>
          <a:ln/>
        </p:spPr>
        <p:txBody>
          <a:bodyPr wrap="square" lIns="0" tIns="0" rIns="0" bIns="0" rtlCol="0" anchor="ctr"/>
          <a:lstStyle/>
          <a:p>
            <a:pPr indent="0" marL="0">
              <a:buNone/>
            </a:pPr>
            <a:r>
              <a:rPr lang="en-US" sz="1400" b="1" dirty="0">
                <a:solidFill>
                  <a:srgbClr val="232936"/>
                </a:solidFill>
                <a:latin typeface="Cambria" pitchFamily="34" charset="0"/>
                <a:ea typeface="Cambria" pitchFamily="34" charset="-122"/>
                <a:cs typeface="Cambria" pitchFamily="34" charset="-120"/>
              </a:rPr>
              <a:t>Montrer une composition</a:t>
            </a:r>
            <a:endParaRPr lang="en-US" sz="1400" dirty="0"/>
          </a:p>
        </p:txBody>
      </p:sp>
      <p:sp>
        <p:nvSpPr>
          <p:cNvPr id="15" name="Text 10"/>
          <p:cNvSpPr txBox="1"/>
          <p:nvPr/>
        </p:nvSpPr>
        <p:spPr>
          <a:xfrm>
            <a:off x="8322869" y="3191256"/>
            <a:ext cx="3247034" cy="256032"/>
          </a:xfrm>
          <a:prstGeom prst="rect">
            <a:avLst/>
          </a:prstGeom>
          <a:noFill/>
          <a:ln/>
        </p:spPr>
        <p:txBody>
          <a:bodyPr wrap="square" lIns="0" tIns="0" rIns="0" bIns="0" rtlCol="0" anchor="ctr"/>
          <a:lstStyle/>
          <a:p>
            <a:pPr indent="0" marL="0">
              <a:buNone/>
            </a:pPr>
            <a:r>
              <a:rPr lang="en-US" sz="1100" dirty="0">
                <a:solidFill>
                  <a:srgbClr val="E2622C"/>
                </a:solidFill>
                <a:latin typeface="Calibri" pitchFamily="34" charset="0"/>
                <a:ea typeface="Calibri" pitchFamily="34" charset="-122"/>
                <a:cs typeface="Calibri" pitchFamily="34" charset="-120"/>
              </a:rPr>
              <a:t>Aire 100 % · p. 19</a:t>
            </a:r>
            <a:endParaRPr lang="en-US" sz="1100" dirty="0"/>
          </a:p>
        </p:txBody>
      </p:sp>
      <p:sp>
        <p:nvSpPr>
          <p:cNvPr id="16" name="Shape 11"/>
          <p:cNvSpPr/>
          <p:nvPr/>
        </p:nvSpPr>
        <p:spPr>
          <a:xfrm>
            <a:off x="457200" y="3886200"/>
            <a:ext cx="3576218" cy="2194560"/>
          </a:xfrm>
          <a:prstGeom prst="roundRect">
            <a:avLst>
              <a:gd name="adj" fmla="val 2500"/>
            </a:avLst>
          </a:prstGeom>
          <a:solidFill>
            <a:srgbClr val="F5F7F9"/>
          </a:solidFill>
          <a:ln w="9525">
            <a:solidFill>
              <a:srgbClr val="DCE1E7"/>
            </a:solidFill>
            <a:prstDash val="solid"/>
          </a:ln>
        </p:spPr>
      </p:sp>
      <p:pic>
        <p:nvPicPr>
          <p:cNvPr id="17" name="Image 3" descr="/home/user/Rath/captures/07-nombre/01-defaut.png">    </p:cNvPr>
          <p:cNvPicPr>
            <a:picLocks noChangeAspect="1"/>
          </p:cNvPicPr>
          <p:nvPr/>
        </p:nvPicPr>
        <p:blipFill>
          <a:blip r:embed="rId4"/>
          <a:stretch>
            <a:fillRect/>
          </a:stretch>
        </p:blipFill>
        <p:spPr>
          <a:xfrm>
            <a:off x="1103579" y="3995928"/>
            <a:ext cx="2283460" cy="1325880"/>
          </a:xfrm>
          <a:prstGeom prst="rect">
            <a:avLst/>
          </a:prstGeom>
        </p:spPr>
      </p:pic>
      <p:sp>
        <p:nvSpPr>
          <p:cNvPr id="18" name="Text 12"/>
          <p:cNvSpPr txBox="1"/>
          <p:nvPr/>
        </p:nvSpPr>
        <p:spPr>
          <a:xfrm>
            <a:off x="621792" y="5367528"/>
            <a:ext cx="3247034" cy="274320"/>
          </a:xfrm>
          <a:prstGeom prst="rect">
            <a:avLst/>
          </a:prstGeom>
          <a:noFill/>
          <a:ln/>
        </p:spPr>
        <p:txBody>
          <a:bodyPr wrap="square" lIns="0" tIns="0" rIns="0" bIns="0" rtlCol="0" anchor="ctr"/>
          <a:lstStyle/>
          <a:p>
            <a:pPr indent="0" marL="0">
              <a:buNone/>
            </a:pPr>
            <a:r>
              <a:rPr lang="en-US" sz="1400" b="1" dirty="0">
                <a:solidFill>
                  <a:srgbClr val="232936"/>
                </a:solidFill>
                <a:latin typeface="Cambria" pitchFamily="34" charset="0"/>
                <a:ea typeface="Cambria" pitchFamily="34" charset="-122"/>
                <a:cs typeface="Cambria" pitchFamily="34" charset="-120"/>
              </a:rPr>
              <a:t>Afficher un chiffre clé</a:t>
            </a:r>
            <a:endParaRPr lang="en-US" sz="1400" dirty="0"/>
          </a:p>
        </p:txBody>
      </p:sp>
      <p:sp>
        <p:nvSpPr>
          <p:cNvPr id="19" name="Text 13"/>
          <p:cNvSpPr txBox="1"/>
          <p:nvPr/>
        </p:nvSpPr>
        <p:spPr>
          <a:xfrm>
            <a:off x="621792" y="5660136"/>
            <a:ext cx="3247034" cy="256032"/>
          </a:xfrm>
          <a:prstGeom prst="rect">
            <a:avLst/>
          </a:prstGeom>
          <a:noFill/>
          <a:ln/>
        </p:spPr>
        <p:txBody>
          <a:bodyPr wrap="square" lIns="0" tIns="0" rIns="0" bIns="0" rtlCol="0" anchor="ctr"/>
          <a:lstStyle/>
          <a:p>
            <a:pPr indent="0" marL="0">
              <a:buNone/>
            </a:pPr>
            <a:r>
              <a:rPr lang="en-US" sz="1100" dirty="0">
                <a:solidFill>
                  <a:srgbClr val="E2622C"/>
                </a:solidFill>
                <a:latin typeface="Calibri" pitchFamily="34" charset="0"/>
                <a:ea typeface="Calibri" pitchFamily="34" charset="-122"/>
                <a:cs typeface="Calibri" pitchFamily="34" charset="-120"/>
              </a:rPr>
              <a:t>Nombre · p. 26</a:t>
            </a:r>
            <a:endParaRPr lang="en-US" sz="1100" dirty="0"/>
          </a:p>
        </p:txBody>
      </p:sp>
      <p:sp>
        <p:nvSpPr>
          <p:cNvPr id="20" name="Shape 14"/>
          <p:cNvSpPr/>
          <p:nvPr/>
        </p:nvSpPr>
        <p:spPr>
          <a:xfrm>
            <a:off x="4307738" y="3886200"/>
            <a:ext cx="3576218" cy="2194560"/>
          </a:xfrm>
          <a:prstGeom prst="roundRect">
            <a:avLst>
              <a:gd name="adj" fmla="val 2500"/>
            </a:avLst>
          </a:prstGeom>
          <a:solidFill>
            <a:srgbClr val="F5F7F9"/>
          </a:solidFill>
          <a:ln w="9525">
            <a:solidFill>
              <a:srgbClr val="DCE1E7"/>
            </a:solidFill>
            <a:prstDash val="solid"/>
          </a:ln>
        </p:spPr>
      </p:sp>
      <p:pic>
        <p:nvPicPr>
          <p:cNvPr id="21" name="Image 4" descr="/home/user/Rath/captures/06-camembert/01-anneau-defaut.png">    </p:cNvPr>
          <p:cNvPicPr>
            <a:picLocks noChangeAspect="1"/>
          </p:cNvPicPr>
          <p:nvPr/>
        </p:nvPicPr>
        <p:blipFill>
          <a:blip r:embed="rId5"/>
          <a:stretch>
            <a:fillRect/>
          </a:stretch>
        </p:blipFill>
        <p:spPr>
          <a:xfrm>
            <a:off x="4461623" y="3995928"/>
            <a:ext cx="3268448" cy="1325880"/>
          </a:xfrm>
          <a:prstGeom prst="rect">
            <a:avLst/>
          </a:prstGeom>
        </p:spPr>
      </p:pic>
      <p:sp>
        <p:nvSpPr>
          <p:cNvPr id="22" name="Text 15"/>
          <p:cNvSpPr txBox="1"/>
          <p:nvPr/>
        </p:nvSpPr>
        <p:spPr>
          <a:xfrm>
            <a:off x="4472330" y="5367528"/>
            <a:ext cx="3247034" cy="274320"/>
          </a:xfrm>
          <a:prstGeom prst="rect">
            <a:avLst/>
          </a:prstGeom>
          <a:noFill/>
          <a:ln/>
        </p:spPr>
        <p:txBody>
          <a:bodyPr wrap="square" lIns="0" tIns="0" rIns="0" bIns="0" rtlCol="0" anchor="ctr"/>
          <a:lstStyle/>
          <a:p>
            <a:pPr indent="0" marL="0">
              <a:buNone/>
            </a:pPr>
            <a:r>
              <a:rPr lang="en-US" sz="1400" b="1" dirty="0">
                <a:solidFill>
                  <a:srgbClr val="232936"/>
                </a:solidFill>
                <a:latin typeface="Cambria" pitchFamily="34" charset="0"/>
                <a:ea typeface="Cambria" pitchFamily="34" charset="-122"/>
                <a:cs typeface="Cambria" pitchFamily="34" charset="-120"/>
              </a:rPr>
              <a:t>Détailler une répartition</a:t>
            </a:r>
            <a:endParaRPr lang="en-US" sz="1400" dirty="0"/>
          </a:p>
        </p:txBody>
      </p:sp>
      <p:sp>
        <p:nvSpPr>
          <p:cNvPr id="23" name="Text 16"/>
          <p:cNvSpPr txBox="1"/>
          <p:nvPr/>
        </p:nvSpPr>
        <p:spPr>
          <a:xfrm>
            <a:off x="4472330" y="5660136"/>
            <a:ext cx="3247034" cy="256032"/>
          </a:xfrm>
          <a:prstGeom prst="rect">
            <a:avLst/>
          </a:prstGeom>
          <a:noFill/>
          <a:ln/>
        </p:spPr>
        <p:txBody>
          <a:bodyPr wrap="square" lIns="0" tIns="0" rIns="0" bIns="0" rtlCol="0" anchor="ctr"/>
          <a:lstStyle/>
          <a:p>
            <a:pPr indent="0" marL="0">
              <a:buNone/>
            </a:pPr>
            <a:r>
              <a:rPr lang="en-US" sz="1100" dirty="0">
                <a:solidFill>
                  <a:srgbClr val="E2622C"/>
                </a:solidFill>
                <a:latin typeface="Calibri" pitchFamily="34" charset="0"/>
                <a:ea typeface="Calibri" pitchFamily="34" charset="-122"/>
                <a:cs typeface="Calibri" pitchFamily="34" charset="-120"/>
              </a:rPr>
              <a:t>Camembert · p. 23</a:t>
            </a:r>
            <a:endParaRPr lang="en-US" sz="1100" dirty="0"/>
          </a:p>
        </p:txBody>
      </p:sp>
      <p:sp>
        <p:nvSpPr>
          <p:cNvPr id="24" name="Shape 17"/>
          <p:cNvSpPr/>
          <p:nvPr/>
        </p:nvSpPr>
        <p:spPr>
          <a:xfrm>
            <a:off x="8158277" y="3886200"/>
            <a:ext cx="3576218" cy="2194560"/>
          </a:xfrm>
          <a:prstGeom prst="roundRect">
            <a:avLst>
              <a:gd name="adj" fmla="val 2500"/>
            </a:avLst>
          </a:prstGeom>
          <a:solidFill>
            <a:srgbClr val="F5F7F9"/>
          </a:solidFill>
          <a:ln w="9525">
            <a:solidFill>
              <a:srgbClr val="DCE1E7"/>
            </a:solidFill>
            <a:prstDash val="solid"/>
          </a:ln>
        </p:spPr>
      </p:sp>
      <p:pic>
        <p:nvPicPr>
          <p:cNvPr id="25" name="Image 5" descr="/home/user/Rath/captures/09-cascade/01-defaut.png">    </p:cNvPr>
          <p:cNvPicPr>
            <a:picLocks noChangeAspect="1"/>
          </p:cNvPicPr>
          <p:nvPr/>
        </p:nvPicPr>
        <p:blipFill>
          <a:blip r:embed="rId6"/>
          <a:stretch>
            <a:fillRect/>
          </a:stretch>
        </p:blipFill>
        <p:spPr>
          <a:xfrm>
            <a:off x="8798990" y="3995928"/>
            <a:ext cx="2294792" cy="1325880"/>
          </a:xfrm>
          <a:prstGeom prst="rect">
            <a:avLst/>
          </a:prstGeom>
        </p:spPr>
      </p:pic>
      <p:sp>
        <p:nvSpPr>
          <p:cNvPr id="26" name="Text 18"/>
          <p:cNvSpPr txBox="1"/>
          <p:nvPr/>
        </p:nvSpPr>
        <p:spPr>
          <a:xfrm>
            <a:off x="8322869" y="5367528"/>
            <a:ext cx="3247034" cy="274320"/>
          </a:xfrm>
          <a:prstGeom prst="rect">
            <a:avLst/>
          </a:prstGeom>
          <a:noFill/>
          <a:ln/>
        </p:spPr>
        <p:txBody>
          <a:bodyPr wrap="square" lIns="0" tIns="0" rIns="0" bIns="0" rtlCol="0" anchor="ctr"/>
          <a:lstStyle/>
          <a:p>
            <a:pPr indent="0" marL="0">
              <a:buNone/>
            </a:pPr>
            <a:r>
              <a:rPr lang="en-US" sz="1400" b="1" dirty="0">
                <a:solidFill>
                  <a:srgbClr val="232936"/>
                </a:solidFill>
                <a:latin typeface="Cambria" pitchFamily="34" charset="0"/>
                <a:ea typeface="Cambria" pitchFamily="34" charset="-122"/>
                <a:cs typeface="Cambria" pitchFamily="34" charset="-120"/>
              </a:rPr>
              <a:t>Expliquer un écart</a:t>
            </a:r>
            <a:endParaRPr lang="en-US" sz="1400" dirty="0"/>
          </a:p>
        </p:txBody>
      </p:sp>
      <p:sp>
        <p:nvSpPr>
          <p:cNvPr id="27" name="Text 19"/>
          <p:cNvSpPr txBox="1"/>
          <p:nvPr/>
        </p:nvSpPr>
        <p:spPr>
          <a:xfrm>
            <a:off x="8322869" y="5660136"/>
            <a:ext cx="3247034" cy="256032"/>
          </a:xfrm>
          <a:prstGeom prst="rect">
            <a:avLst/>
          </a:prstGeom>
          <a:noFill/>
          <a:ln/>
        </p:spPr>
        <p:txBody>
          <a:bodyPr wrap="square" lIns="0" tIns="0" rIns="0" bIns="0" rtlCol="0" anchor="ctr"/>
          <a:lstStyle/>
          <a:p>
            <a:pPr indent="0" marL="0">
              <a:buNone/>
            </a:pPr>
            <a:r>
              <a:rPr lang="en-US" sz="1100" dirty="0">
                <a:solidFill>
                  <a:srgbClr val="E2622C"/>
                </a:solidFill>
                <a:latin typeface="Calibri" pitchFamily="34" charset="0"/>
                <a:ea typeface="Calibri" pitchFamily="34" charset="-122"/>
                <a:cs typeface="Calibri" pitchFamily="34" charset="-120"/>
              </a:rPr>
              <a:t>Cascade · p. 30</a:t>
            </a:r>
            <a:endParaRPr lang="en-US" sz="11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10896"/>
            <a:ext cx="23774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Titre du tableau de bord :</a:t>
            </a:r>
            <a:endParaRPr lang="en-US" sz="1200" dirty="0"/>
          </a:p>
        </p:txBody>
      </p:sp>
      <p:sp>
        <p:nvSpPr>
          <p:cNvPr id="3" name="Shape 1"/>
          <p:cNvSpPr/>
          <p:nvPr/>
        </p:nvSpPr>
        <p:spPr>
          <a:xfrm>
            <a:off x="2880360" y="566928"/>
            <a:ext cx="4754880" cy="0"/>
          </a:xfrm>
          <a:prstGeom prst="line">
            <a:avLst/>
          </a:prstGeom>
          <a:noFill/>
          <a:ln w="12700">
            <a:solidFill>
              <a:srgbClr val="DCE1E7"/>
            </a:solidFill>
            <a:prstDash val="dash"/>
          </a:ln>
        </p:spPr>
      </p:sp>
      <p:sp>
        <p:nvSpPr>
          <p:cNvPr id="4" name="Text 2"/>
          <p:cNvSpPr txBox="1"/>
          <p:nvPr/>
        </p:nvSpPr>
        <p:spPr>
          <a:xfrm>
            <a:off x="7955280" y="310896"/>
            <a:ext cx="10058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Pour qui :</a:t>
            </a:r>
            <a:endParaRPr lang="en-US" sz="1200" dirty="0"/>
          </a:p>
        </p:txBody>
      </p:sp>
      <p:sp>
        <p:nvSpPr>
          <p:cNvPr id="5" name="Shape 3"/>
          <p:cNvSpPr/>
          <p:nvPr/>
        </p:nvSpPr>
        <p:spPr>
          <a:xfrm>
            <a:off x="9006840" y="566928"/>
            <a:ext cx="2697480" cy="0"/>
          </a:xfrm>
          <a:prstGeom prst="line">
            <a:avLst/>
          </a:prstGeom>
          <a:noFill/>
          <a:ln w="12700">
            <a:solidFill>
              <a:srgbClr val="DCE1E7"/>
            </a:solidFill>
            <a:prstDash val="dash"/>
          </a:ln>
        </p:spPr>
      </p:sp>
      <p:sp>
        <p:nvSpPr>
          <p:cNvPr id="6" name="Shape 4"/>
          <p:cNvSpPr/>
          <p:nvPr/>
        </p:nvSpPr>
        <p:spPr>
          <a:xfrm>
            <a:off x="457200" y="868680"/>
            <a:ext cx="2647874" cy="1371600"/>
          </a:xfrm>
          <a:prstGeom prst="roundRect">
            <a:avLst>
              <a:gd name="adj" fmla="val 3333"/>
            </a:avLst>
          </a:prstGeom>
          <a:solidFill>
            <a:srgbClr val="FCFDFE"/>
          </a:solidFill>
          <a:ln w="15875">
            <a:solidFill>
              <a:srgbClr val="BFC8D6"/>
            </a:solidFill>
            <a:prstDash val="dash"/>
          </a:ln>
        </p:spPr>
      </p:sp>
      <p:sp>
        <p:nvSpPr>
          <p:cNvPr id="7" name="Shape 5"/>
          <p:cNvSpPr/>
          <p:nvPr/>
        </p:nvSpPr>
        <p:spPr>
          <a:xfrm>
            <a:off x="603504" y="1014984"/>
            <a:ext cx="310896" cy="310896"/>
          </a:xfrm>
          <a:prstGeom prst="ellipse">
            <a:avLst/>
          </a:prstGeom>
          <a:solidFill>
            <a:srgbClr val="E2622C"/>
          </a:solidFill>
          <a:ln w="12700">
            <a:solidFill>
              <a:srgbClr val="E2622C"/>
            </a:solidFill>
            <a:prstDash val="solid"/>
          </a:ln>
        </p:spPr>
      </p:sp>
      <p:sp>
        <p:nvSpPr>
          <p:cNvPr id="8" name="Text 6"/>
          <p:cNvSpPr txBox="1"/>
          <p:nvPr/>
        </p:nvSpPr>
        <p:spPr>
          <a:xfrm>
            <a:off x="603504"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603504" y="1399032"/>
            <a:ext cx="2355266" cy="69494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Chiffre clé</a:t>
            </a:r>
            <a:endParaRPr lang="en-US" sz="1150" dirty="0"/>
          </a:p>
          <a:p>
            <a:pPr algn="ctr" indent="0" marL="0">
              <a:buNone/>
            </a:pPr>
            <a:r>
              <a:rPr lang="en-US" sz="1150" dirty="0">
                <a:solidFill>
                  <a:srgbClr val="94A0B0"/>
                </a:solidFill>
                <a:latin typeface="Calibri" pitchFamily="34" charset="0"/>
                <a:ea typeface="Calibri" pitchFamily="34" charset="-122"/>
                <a:cs typeface="Calibri" pitchFamily="34" charset="-120"/>
              </a:rPr>
              <a:t>(Nombre · Tendance · Jauge)</a:t>
            </a:r>
            <a:endParaRPr lang="en-US" sz="1150" dirty="0"/>
          </a:p>
        </p:txBody>
      </p:sp>
      <p:sp>
        <p:nvSpPr>
          <p:cNvPr id="10" name="Shape 8"/>
          <p:cNvSpPr/>
          <p:nvPr/>
        </p:nvSpPr>
        <p:spPr>
          <a:xfrm>
            <a:off x="3333674" y="868680"/>
            <a:ext cx="2647874" cy="1371600"/>
          </a:xfrm>
          <a:prstGeom prst="roundRect">
            <a:avLst>
              <a:gd name="adj" fmla="val 3333"/>
            </a:avLst>
          </a:prstGeom>
          <a:solidFill>
            <a:srgbClr val="FCFDFE"/>
          </a:solidFill>
          <a:ln w="15875">
            <a:solidFill>
              <a:srgbClr val="BFC8D6"/>
            </a:solidFill>
            <a:prstDash val="dash"/>
          </a:ln>
        </p:spPr>
      </p:sp>
      <p:sp>
        <p:nvSpPr>
          <p:cNvPr id="11" name="Shape 9"/>
          <p:cNvSpPr/>
          <p:nvPr/>
        </p:nvSpPr>
        <p:spPr>
          <a:xfrm>
            <a:off x="3479978" y="1014984"/>
            <a:ext cx="310896" cy="310896"/>
          </a:xfrm>
          <a:prstGeom prst="ellipse">
            <a:avLst/>
          </a:prstGeom>
          <a:solidFill>
            <a:srgbClr val="E2622C"/>
          </a:solidFill>
          <a:ln w="12700">
            <a:solidFill>
              <a:srgbClr val="E2622C"/>
            </a:solidFill>
            <a:prstDash val="solid"/>
          </a:ln>
        </p:spPr>
      </p:sp>
      <p:sp>
        <p:nvSpPr>
          <p:cNvPr id="12" name="Text 10"/>
          <p:cNvSpPr txBox="1"/>
          <p:nvPr/>
        </p:nvSpPr>
        <p:spPr>
          <a:xfrm>
            <a:off x="3479978"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479978" y="1399032"/>
            <a:ext cx="2355266" cy="69494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Chiffre clé</a:t>
            </a:r>
            <a:endParaRPr lang="en-US" sz="1150" dirty="0"/>
          </a:p>
          <a:p>
            <a:pPr algn="ctr" indent="0" marL="0">
              <a:buNone/>
            </a:pPr>
            <a:r>
              <a:rPr lang="en-US" sz="1150" dirty="0">
                <a:solidFill>
                  <a:srgbClr val="94A0B0"/>
                </a:solidFill>
                <a:latin typeface="Calibri" pitchFamily="34" charset="0"/>
                <a:ea typeface="Calibri" pitchFamily="34" charset="-122"/>
                <a:cs typeface="Calibri" pitchFamily="34" charset="-120"/>
              </a:rPr>
              <a:t>(Nombre · Tendance · Jauge)</a:t>
            </a:r>
            <a:endParaRPr lang="en-US" sz="1150" dirty="0"/>
          </a:p>
        </p:txBody>
      </p:sp>
      <p:sp>
        <p:nvSpPr>
          <p:cNvPr id="14" name="Shape 12"/>
          <p:cNvSpPr/>
          <p:nvPr/>
        </p:nvSpPr>
        <p:spPr>
          <a:xfrm>
            <a:off x="6210148" y="868680"/>
            <a:ext cx="2647874" cy="1371600"/>
          </a:xfrm>
          <a:prstGeom prst="roundRect">
            <a:avLst>
              <a:gd name="adj" fmla="val 3333"/>
            </a:avLst>
          </a:prstGeom>
          <a:solidFill>
            <a:srgbClr val="FCFDFE"/>
          </a:solidFill>
          <a:ln w="15875">
            <a:solidFill>
              <a:srgbClr val="BFC8D6"/>
            </a:solidFill>
            <a:prstDash val="dash"/>
          </a:ln>
        </p:spPr>
      </p:sp>
      <p:sp>
        <p:nvSpPr>
          <p:cNvPr id="15" name="Shape 13"/>
          <p:cNvSpPr/>
          <p:nvPr/>
        </p:nvSpPr>
        <p:spPr>
          <a:xfrm>
            <a:off x="6356452" y="1014984"/>
            <a:ext cx="310896" cy="310896"/>
          </a:xfrm>
          <a:prstGeom prst="ellipse">
            <a:avLst/>
          </a:prstGeom>
          <a:solidFill>
            <a:srgbClr val="E2622C"/>
          </a:solidFill>
          <a:ln w="12700">
            <a:solidFill>
              <a:srgbClr val="E2622C"/>
            </a:solidFill>
            <a:prstDash val="solid"/>
          </a:ln>
        </p:spPr>
      </p:sp>
      <p:sp>
        <p:nvSpPr>
          <p:cNvPr id="16" name="Text 14"/>
          <p:cNvSpPr txBox="1"/>
          <p:nvPr/>
        </p:nvSpPr>
        <p:spPr>
          <a:xfrm>
            <a:off x="6356452"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356452" y="1399032"/>
            <a:ext cx="2355266" cy="69494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Chiffre clé</a:t>
            </a:r>
            <a:endParaRPr lang="en-US" sz="1150" dirty="0"/>
          </a:p>
          <a:p>
            <a:pPr algn="ctr" indent="0" marL="0">
              <a:buNone/>
            </a:pPr>
            <a:r>
              <a:rPr lang="en-US" sz="1150" dirty="0">
                <a:solidFill>
                  <a:srgbClr val="94A0B0"/>
                </a:solidFill>
                <a:latin typeface="Calibri" pitchFamily="34" charset="0"/>
                <a:ea typeface="Calibri" pitchFamily="34" charset="-122"/>
                <a:cs typeface="Calibri" pitchFamily="34" charset="-120"/>
              </a:rPr>
              <a:t>(Nombre · Tendance · Jauge)</a:t>
            </a:r>
            <a:endParaRPr lang="en-US" sz="1150" dirty="0"/>
          </a:p>
        </p:txBody>
      </p:sp>
      <p:sp>
        <p:nvSpPr>
          <p:cNvPr id="18" name="Shape 16"/>
          <p:cNvSpPr/>
          <p:nvPr/>
        </p:nvSpPr>
        <p:spPr>
          <a:xfrm>
            <a:off x="9086621" y="868680"/>
            <a:ext cx="2647874" cy="1371600"/>
          </a:xfrm>
          <a:prstGeom prst="roundRect">
            <a:avLst>
              <a:gd name="adj" fmla="val 3333"/>
            </a:avLst>
          </a:prstGeom>
          <a:solidFill>
            <a:srgbClr val="FCFDFE"/>
          </a:solidFill>
          <a:ln w="15875">
            <a:solidFill>
              <a:srgbClr val="BFC8D6"/>
            </a:solidFill>
            <a:prstDash val="dash"/>
          </a:ln>
        </p:spPr>
      </p:sp>
      <p:sp>
        <p:nvSpPr>
          <p:cNvPr id="19" name="Shape 17"/>
          <p:cNvSpPr/>
          <p:nvPr/>
        </p:nvSpPr>
        <p:spPr>
          <a:xfrm>
            <a:off x="9232925" y="1014984"/>
            <a:ext cx="310896" cy="310896"/>
          </a:xfrm>
          <a:prstGeom prst="ellipse">
            <a:avLst/>
          </a:prstGeom>
          <a:solidFill>
            <a:srgbClr val="E2622C"/>
          </a:solidFill>
          <a:ln w="12700">
            <a:solidFill>
              <a:srgbClr val="E2622C"/>
            </a:solidFill>
            <a:prstDash val="solid"/>
          </a:ln>
        </p:spPr>
      </p:sp>
      <p:sp>
        <p:nvSpPr>
          <p:cNvPr id="20" name="Text 18"/>
          <p:cNvSpPr txBox="1"/>
          <p:nvPr/>
        </p:nvSpPr>
        <p:spPr>
          <a:xfrm>
            <a:off x="9232925"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9232925" y="1399032"/>
            <a:ext cx="2355266" cy="69494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Chiffre clé</a:t>
            </a:r>
            <a:endParaRPr lang="en-US" sz="1150" dirty="0"/>
          </a:p>
          <a:p>
            <a:pPr algn="ctr" indent="0" marL="0">
              <a:buNone/>
            </a:pPr>
            <a:r>
              <a:rPr lang="en-US" sz="1150" dirty="0">
                <a:solidFill>
                  <a:srgbClr val="94A0B0"/>
                </a:solidFill>
                <a:latin typeface="Calibri" pitchFamily="34" charset="0"/>
                <a:ea typeface="Calibri" pitchFamily="34" charset="-122"/>
                <a:cs typeface="Calibri" pitchFamily="34" charset="-120"/>
              </a:rPr>
              <a:t>(Nombre · Tendance · Jauge)</a:t>
            </a:r>
            <a:endParaRPr lang="en-US" sz="1150" dirty="0"/>
          </a:p>
        </p:txBody>
      </p:sp>
      <p:sp>
        <p:nvSpPr>
          <p:cNvPr id="22" name="Shape 20"/>
          <p:cNvSpPr/>
          <p:nvPr/>
        </p:nvSpPr>
        <p:spPr>
          <a:xfrm>
            <a:off x="457200" y="2395728"/>
            <a:ext cx="5501488" cy="3685032"/>
          </a:xfrm>
          <a:prstGeom prst="roundRect">
            <a:avLst>
              <a:gd name="adj" fmla="val 1241"/>
            </a:avLst>
          </a:prstGeom>
          <a:solidFill>
            <a:srgbClr val="FCFDFE"/>
          </a:solidFill>
          <a:ln w="15875">
            <a:solidFill>
              <a:srgbClr val="BFC8D6"/>
            </a:solidFill>
            <a:prstDash val="dash"/>
          </a:ln>
        </p:spPr>
      </p:sp>
      <p:sp>
        <p:nvSpPr>
          <p:cNvPr id="23" name="Shape 21"/>
          <p:cNvSpPr/>
          <p:nvPr/>
        </p:nvSpPr>
        <p:spPr>
          <a:xfrm>
            <a:off x="603504" y="2542032"/>
            <a:ext cx="310896" cy="310896"/>
          </a:xfrm>
          <a:prstGeom prst="ellipse">
            <a:avLst/>
          </a:prstGeom>
          <a:solidFill>
            <a:srgbClr val="E2622C"/>
          </a:solidFill>
          <a:ln w="12700">
            <a:solidFill>
              <a:srgbClr val="E2622C"/>
            </a:solidFill>
            <a:prstDash val="solid"/>
          </a:ln>
        </p:spPr>
      </p:sp>
      <p:sp>
        <p:nvSpPr>
          <p:cNvPr id="24" name="Text 22"/>
          <p:cNvSpPr txBox="1"/>
          <p:nvPr/>
        </p:nvSpPr>
        <p:spPr>
          <a:xfrm>
            <a:off x="603504" y="2542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603504" y="2926080"/>
            <a:ext cx="5208880" cy="3008376"/>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 principal</a:t>
            </a:r>
            <a:endParaRPr lang="en-US" sz="1150" dirty="0"/>
          </a:p>
        </p:txBody>
      </p:sp>
      <p:sp>
        <p:nvSpPr>
          <p:cNvPr id="26" name="Shape 24"/>
          <p:cNvSpPr/>
          <p:nvPr/>
        </p:nvSpPr>
        <p:spPr>
          <a:xfrm>
            <a:off x="6233008" y="2395728"/>
            <a:ext cx="5501488" cy="3685032"/>
          </a:xfrm>
          <a:prstGeom prst="roundRect">
            <a:avLst>
              <a:gd name="adj" fmla="val 1241"/>
            </a:avLst>
          </a:prstGeom>
          <a:solidFill>
            <a:srgbClr val="FCFDFE"/>
          </a:solidFill>
          <a:ln w="15875">
            <a:solidFill>
              <a:srgbClr val="BFC8D6"/>
            </a:solidFill>
            <a:prstDash val="dash"/>
          </a:ln>
        </p:spPr>
      </p:sp>
      <p:sp>
        <p:nvSpPr>
          <p:cNvPr id="27" name="Shape 25"/>
          <p:cNvSpPr/>
          <p:nvPr/>
        </p:nvSpPr>
        <p:spPr>
          <a:xfrm>
            <a:off x="6379312" y="2542032"/>
            <a:ext cx="310896" cy="310896"/>
          </a:xfrm>
          <a:prstGeom prst="ellipse">
            <a:avLst/>
          </a:prstGeom>
          <a:solidFill>
            <a:srgbClr val="E2622C"/>
          </a:solidFill>
          <a:ln w="12700">
            <a:solidFill>
              <a:srgbClr val="E2622C"/>
            </a:solidFill>
            <a:prstDash val="solid"/>
          </a:ln>
        </p:spPr>
      </p:sp>
      <p:sp>
        <p:nvSpPr>
          <p:cNvPr id="28" name="Text 26"/>
          <p:cNvSpPr txBox="1"/>
          <p:nvPr/>
        </p:nvSpPr>
        <p:spPr>
          <a:xfrm>
            <a:off x="6379312" y="2542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7"/>
          <p:cNvSpPr txBox="1"/>
          <p:nvPr/>
        </p:nvSpPr>
        <p:spPr>
          <a:xfrm>
            <a:off x="6379312" y="2926080"/>
            <a:ext cx="5208880" cy="3008376"/>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 secondaire</a:t>
            </a:r>
            <a:endParaRPr lang="en-US" sz="1150" dirty="0"/>
          </a:p>
        </p:txBody>
      </p:sp>
      <p:sp>
        <p:nvSpPr>
          <p:cNvPr id="30" name="Text 28"/>
          <p:cNvSpPr txBox="1"/>
          <p:nvPr/>
        </p:nvSpPr>
        <p:spPr>
          <a:xfrm>
            <a:off x="457200" y="6236208"/>
            <a:ext cx="10454335" cy="274320"/>
          </a:xfrm>
          <a:prstGeom prst="rect">
            <a:avLst/>
          </a:prstGeom>
          <a:noFill/>
          <a:ln/>
        </p:spPr>
        <p:txBody>
          <a:bodyPr wrap="square" lIns="0" tIns="0" rIns="0" bIns="0" rtlCol="0" anchor="ctr"/>
          <a:lstStyle/>
          <a:p>
            <a:pPr indent="0" marL="0">
              <a:buNone/>
            </a:pPr>
            <a:r>
              <a:rPr lang="en-US" sz="1000" i="1" dirty="0">
                <a:solidFill>
                  <a:srgbClr val="7C8598"/>
                </a:solidFill>
                <a:latin typeface="Calibri" pitchFamily="34" charset="0"/>
                <a:ea typeface="Calibri" pitchFamily="34" charset="-122"/>
                <a:cs typeface="Calibri" pitchFamily="34" charset="-120"/>
              </a:rPr>
              <a:t>Gabarit A — chiffres clés + deux graphiques — Le grand classique : ce qu'on lit en premier en haut, le détail en dessous.</a:t>
            </a:r>
            <a:endParaRPr lang="en-US" sz="10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10896"/>
            <a:ext cx="23774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Titre du tableau de bord :</a:t>
            </a:r>
            <a:endParaRPr lang="en-US" sz="1200" dirty="0"/>
          </a:p>
        </p:txBody>
      </p:sp>
      <p:sp>
        <p:nvSpPr>
          <p:cNvPr id="3" name="Shape 1"/>
          <p:cNvSpPr/>
          <p:nvPr/>
        </p:nvSpPr>
        <p:spPr>
          <a:xfrm>
            <a:off x="2880360" y="566928"/>
            <a:ext cx="4754880" cy="0"/>
          </a:xfrm>
          <a:prstGeom prst="line">
            <a:avLst/>
          </a:prstGeom>
          <a:noFill/>
          <a:ln w="12700">
            <a:solidFill>
              <a:srgbClr val="DCE1E7"/>
            </a:solidFill>
            <a:prstDash val="dash"/>
          </a:ln>
        </p:spPr>
      </p:sp>
      <p:sp>
        <p:nvSpPr>
          <p:cNvPr id="4" name="Text 2"/>
          <p:cNvSpPr txBox="1"/>
          <p:nvPr/>
        </p:nvSpPr>
        <p:spPr>
          <a:xfrm>
            <a:off x="7955280" y="310896"/>
            <a:ext cx="10058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Pour qui :</a:t>
            </a:r>
            <a:endParaRPr lang="en-US" sz="1200" dirty="0"/>
          </a:p>
        </p:txBody>
      </p:sp>
      <p:sp>
        <p:nvSpPr>
          <p:cNvPr id="5" name="Shape 3"/>
          <p:cNvSpPr/>
          <p:nvPr/>
        </p:nvSpPr>
        <p:spPr>
          <a:xfrm>
            <a:off x="9006840" y="566928"/>
            <a:ext cx="2697480" cy="0"/>
          </a:xfrm>
          <a:prstGeom prst="line">
            <a:avLst/>
          </a:prstGeom>
          <a:noFill/>
          <a:ln w="12700">
            <a:solidFill>
              <a:srgbClr val="DCE1E7"/>
            </a:solidFill>
            <a:prstDash val="dash"/>
          </a:ln>
        </p:spPr>
      </p:sp>
      <p:sp>
        <p:nvSpPr>
          <p:cNvPr id="6" name="Shape 4"/>
          <p:cNvSpPr/>
          <p:nvPr/>
        </p:nvSpPr>
        <p:spPr>
          <a:xfrm>
            <a:off x="457200" y="868680"/>
            <a:ext cx="5501488" cy="2468880"/>
          </a:xfrm>
          <a:prstGeom prst="roundRect">
            <a:avLst>
              <a:gd name="adj" fmla="val 1852"/>
            </a:avLst>
          </a:prstGeom>
          <a:solidFill>
            <a:srgbClr val="FCFDFE"/>
          </a:solidFill>
          <a:ln w="15875">
            <a:solidFill>
              <a:srgbClr val="BFC8D6"/>
            </a:solidFill>
            <a:prstDash val="dash"/>
          </a:ln>
        </p:spPr>
      </p:sp>
      <p:sp>
        <p:nvSpPr>
          <p:cNvPr id="7" name="Shape 5"/>
          <p:cNvSpPr/>
          <p:nvPr/>
        </p:nvSpPr>
        <p:spPr>
          <a:xfrm>
            <a:off x="603504" y="1014984"/>
            <a:ext cx="310896" cy="310896"/>
          </a:xfrm>
          <a:prstGeom prst="ellipse">
            <a:avLst/>
          </a:prstGeom>
          <a:solidFill>
            <a:srgbClr val="E2622C"/>
          </a:solidFill>
          <a:ln w="12700">
            <a:solidFill>
              <a:srgbClr val="E2622C"/>
            </a:solidFill>
            <a:prstDash val="solid"/>
          </a:ln>
        </p:spPr>
      </p:sp>
      <p:sp>
        <p:nvSpPr>
          <p:cNvPr id="8" name="Text 6"/>
          <p:cNvSpPr txBox="1"/>
          <p:nvPr/>
        </p:nvSpPr>
        <p:spPr>
          <a:xfrm>
            <a:off x="603504"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603504" y="1399032"/>
            <a:ext cx="5208880" cy="179222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a:t>
            </a:r>
            <a:endParaRPr lang="en-US" sz="1150" dirty="0"/>
          </a:p>
        </p:txBody>
      </p:sp>
      <p:sp>
        <p:nvSpPr>
          <p:cNvPr id="10" name="Shape 8"/>
          <p:cNvSpPr/>
          <p:nvPr/>
        </p:nvSpPr>
        <p:spPr>
          <a:xfrm>
            <a:off x="6233008" y="868680"/>
            <a:ext cx="5501488" cy="2468880"/>
          </a:xfrm>
          <a:prstGeom prst="roundRect">
            <a:avLst>
              <a:gd name="adj" fmla="val 1852"/>
            </a:avLst>
          </a:prstGeom>
          <a:solidFill>
            <a:srgbClr val="FCFDFE"/>
          </a:solidFill>
          <a:ln w="15875">
            <a:solidFill>
              <a:srgbClr val="BFC8D6"/>
            </a:solidFill>
            <a:prstDash val="dash"/>
          </a:ln>
        </p:spPr>
      </p:sp>
      <p:sp>
        <p:nvSpPr>
          <p:cNvPr id="11" name="Shape 9"/>
          <p:cNvSpPr/>
          <p:nvPr/>
        </p:nvSpPr>
        <p:spPr>
          <a:xfrm>
            <a:off x="6379312" y="1014984"/>
            <a:ext cx="310896" cy="310896"/>
          </a:xfrm>
          <a:prstGeom prst="ellipse">
            <a:avLst/>
          </a:prstGeom>
          <a:solidFill>
            <a:srgbClr val="E2622C"/>
          </a:solidFill>
          <a:ln w="12700">
            <a:solidFill>
              <a:srgbClr val="E2622C"/>
            </a:solidFill>
            <a:prstDash val="solid"/>
          </a:ln>
        </p:spPr>
      </p:sp>
      <p:sp>
        <p:nvSpPr>
          <p:cNvPr id="12" name="Text 10"/>
          <p:cNvSpPr txBox="1"/>
          <p:nvPr/>
        </p:nvSpPr>
        <p:spPr>
          <a:xfrm>
            <a:off x="6379312"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379312" y="1399032"/>
            <a:ext cx="5208880" cy="179222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a:t>
            </a:r>
            <a:endParaRPr lang="en-US" sz="1150" dirty="0"/>
          </a:p>
        </p:txBody>
      </p:sp>
      <p:sp>
        <p:nvSpPr>
          <p:cNvPr id="14" name="Shape 12"/>
          <p:cNvSpPr/>
          <p:nvPr/>
        </p:nvSpPr>
        <p:spPr>
          <a:xfrm>
            <a:off x="457200" y="3611880"/>
            <a:ext cx="5501488" cy="2468880"/>
          </a:xfrm>
          <a:prstGeom prst="roundRect">
            <a:avLst>
              <a:gd name="adj" fmla="val 1852"/>
            </a:avLst>
          </a:prstGeom>
          <a:solidFill>
            <a:srgbClr val="FCFDFE"/>
          </a:solidFill>
          <a:ln w="15875">
            <a:solidFill>
              <a:srgbClr val="BFC8D6"/>
            </a:solidFill>
            <a:prstDash val="dash"/>
          </a:ln>
        </p:spPr>
      </p:sp>
      <p:sp>
        <p:nvSpPr>
          <p:cNvPr id="15" name="Shape 13"/>
          <p:cNvSpPr/>
          <p:nvPr/>
        </p:nvSpPr>
        <p:spPr>
          <a:xfrm>
            <a:off x="603504" y="3758184"/>
            <a:ext cx="310896" cy="310896"/>
          </a:xfrm>
          <a:prstGeom prst="ellipse">
            <a:avLst/>
          </a:prstGeom>
          <a:solidFill>
            <a:srgbClr val="E2622C"/>
          </a:solidFill>
          <a:ln w="12700">
            <a:solidFill>
              <a:srgbClr val="E2622C"/>
            </a:solidFill>
            <a:prstDash val="solid"/>
          </a:ln>
        </p:spPr>
      </p:sp>
      <p:sp>
        <p:nvSpPr>
          <p:cNvPr id="16" name="Text 14"/>
          <p:cNvSpPr txBox="1"/>
          <p:nvPr/>
        </p:nvSpPr>
        <p:spPr>
          <a:xfrm>
            <a:off x="603504" y="3758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03504" y="4142232"/>
            <a:ext cx="5208880" cy="179222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a:t>
            </a:r>
            <a:endParaRPr lang="en-US" sz="1150" dirty="0"/>
          </a:p>
        </p:txBody>
      </p:sp>
      <p:sp>
        <p:nvSpPr>
          <p:cNvPr id="18" name="Shape 16"/>
          <p:cNvSpPr/>
          <p:nvPr/>
        </p:nvSpPr>
        <p:spPr>
          <a:xfrm>
            <a:off x="6233008" y="3611880"/>
            <a:ext cx="5501488" cy="2468880"/>
          </a:xfrm>
          <a:prstGeom prst="roundRect">
            <a:avLst>
              <a:gd name="adj" fmla="val 1852"/>
            </a:avLst>
          </a:prstGeom>
          <a:solidFill>
            <a:srgbClr val="FCFDFE"/>
          </a:solidFill>
          <a:ln w="15875">
            <a:solidFill>
              <a:srgbClr val="BFC8D6"/>
            </a:solidFill>
            <a:prstDash val="dash"/>
          </a:ln>
        </p:spPr>
      </p:sp>
      <p:sp>
        <p:nvSpPr>
          <p:cNvPr id="19" name="Shape 17"/>
          <p:cNvSpPr/>
          <p:nvPr/>
        </p:nvSpPr>
        <p:spPr>
          <a:xfrm>
            <a:off x="6379312" y="3758184"/>
            <a:ext cx="310896" cy="310896"/>
          </a:xfrm>
          <a:prstGeom prst="ellipse">
            <a:avLst/>
          </a:prstGeom>
          <a:solidFill>
            <a:srgbClr val="E2622C"/>
          </a:solidFill>
          <a:ln w="12700">
            <a:solidFill>
              <a:srgbClr val="E2622C"/>
            </a:solidFill>
            <a:prstDash val="solid"/>
          </a:ln>
        </p:spPr>
      </p:sp>
      <p:sp>
        <p:nvSpPr>
          <p:cNvPr id="20" name="Text 18"/>
          <p:cNvSpPr txBox="1"/>
          <p:nvPr/>
        </p:nvSpPr>
        <p:spPr>
          <a:xfrm>
            <a:off x="6379312" y="3758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6379312" y="4142232"/>
            <a:ext cx="5208880" cy="179222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a:t>
            </a:r>
            <a:endParaRPr lang="en-US" sz="1150" dirty="0"/>
          </a:p>
        </p:txBody>
      </p:sp>
      <p:sp>
        <p:nvSpPr>
          <p:cNvPr id="22" name="Text 20"/>
          <p:cNvSpPr txBox="1"/>
          <p:nvPr/>
        </p:nvSpPr>
        <p:spPr>
          <a:xfrm>
            <a:off x="457200" y="6236208"/>
            <a:ext cx="10454335" cy="274320"/>
          </a:xfrm>
          <a:prstGeom prst="rect">
            <a:avLst/>
          </a:prstGeom>
          <a:noFill/>
          <a:ln/>
        </p:spPr>
        <p:txBody>
          <a:bodyPr wrap="square" lIns="0" tIns="0" rIns="0" bIns="0" rtlCol="0" anchor="ctr"/>
          <a:lstStyle/>
          <a:p>
            <a:pPr indent="0" marL="0">
              <a:buNone/>
            </a:pPr>
            <a:r>
              <a:rPr lang="en-US" sz="1000" i="1" dirty="0">
                <a:solidFill>
                  <a:srgbClr val="7C8598"/>
                </a:solidFill>
                <a:latin typeface="Calibri" pitchFamily="34" charset="0"/>
                <a:ea typeface="Calibri" pitchFamily="34" charset="-122"/>
                <a:cs typeface="Calibri" pitchFamily="34" charset="-120"/>
              </a:rPr>
              <a:t>Gabarit B — quatre graphiques — Quatre angles de lecture de même poids. Au-delà, la page devient illisible.</a:t>
            </a:r>
            <a:endParaRPr lang="en-US" sz="10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10896"/>
            <a:ext cx="23774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Titre du tableau de bord :</a:t>
            </a:r>
            <a:endParaRPr lang="en-US" sz="1200" dirty="0"/>
          </a:p>
        </p:txBody>
      </p:sp>
      <p:sp>
        <p:nvSpPr>
          <p:cNvPr id="3" name="Shape 1"/>
          <p:cNvSpPr/>
          <p:nvPr/>
        </p:nvSpPr>
        <p:spPr>
          <a:xfrm>
            <a:off x="2880360" y="566928"/>
            <a:ext cx="4754880" cy="0"/>
          </a:xfrm>
          <a:prstGeom prst="line">
            <a:avLst/>
          </a:prstGeom>
          <a:noFill/>
          <a:ln w="12700">
            <a:solidFill>
              <a:srgbClr val="DCE1E7"/>
            </a:solidFill>
            <a:prstDash val="dash"/>
          </a:ln>
        </p:spPr>
      </p:sp>
      <p:sp>
        <p:nvSpPr>
          <p:cNvPr id="4" name="Text 2"/>
          <p:cNvSpPr txBox="1"/>
          <p:nvPr/>
        </p:nvSpPr>
        <p:spPr>
          <a:xfrm>
            <a:off x="7955280" y="310896"/>
            <a:ext cx="10058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Pour qui :</a:t>
            </a:r>
            <a:endParaRPr lang="en-US" sz="1200" dirty="0"/>
          </a:p>
        </p:txBody>
      </p:sp>
      <p:sp>
        <p:nvSpPr>
          <p:cNvPr id="5" name="Shape 3"/>
          <p:cNvSpPr/>
          <p:nvPr/>
        </p:nvSpPr>
        <p:spPr>
          <a:xfrm>
            <a:off x="9006840" y="566928"/>
            <a:ext cx="2697480" cy="0"/>
          </a:xfrm>
          <a:prstGeom prst="line">
            <a:avLst/>
          </a:prstGeom>
          <a:noFill/>
          <a:ln w="12700">
            <a:solidFill>
              <a:srgbClr val="DCE1E7"/>
            </a:solidFill>
            <a:prstDash val="dash"/>
          </a:ln>
        </p:spPr>
      </p:sp>
      <p:sp>
        <p:nvSpPr>
          <p:cNvPr id="6" name="Shape 4"/>
          <p:cNvSpPr/>
          <p:nvPr/>
        </p:nvSpPr>
        <p:spPr>
          <a:xfrm>
            <a:off x="457200" y="868680"/>
            <a:ext cx="6935537" cy="5212080"/>
          </a:xfrm>
          <a:prstGeom prst="roundRect">
            <a:avLst>
              <a:gd name="adj" fmla="val 877"/>
            </a:avLst>
          </a:prstGeom>
          <a:solidFill>
            <a:srgbClr val="FCFDFE"/>
          </a:solidFill>
          <a:ln w="15875">
            <a:solidFill>
              <a:srgbClr val="BFC8D6"/>
            </a:solidFill>
            <a:prstDash val="dash"/>
          </a:ln>
        </p:spPr>
      </p:sp>
      <p:sp>
        <p:nvSpPr>
          <p:cNvPr id="7" name="Shape 5"/>
          <p:cNvSpPr/>
          <p:nvPr/>
        </p:nvSpPr>
        <p:spPr>
          <a:xfrm>
            <a:off x="603504" y="1014984"/>
            <a:ext cx="310896" cy="310896"/>
          </a:xfrm>
          <a:prstGeom prst="ellipse">
            <a:avLst/>
          </a:prstGeom>
          <a:solidFill>
            <a:srgbClr val="E2622C"/>
          </a:solidFill>
          <a:ln w="12700">
            <a:solidFill>
              <a:srgbClr val="E2622C"/>
            </a:solidFill>
            <a:prstDash val="solid"/>
          </a:ln>
        </p:spPr>
      </p:sp>
      <p:sp>
        <p:nvSpPr>
          <p:cNvPr id="8" name="Text 6"/>
          <p:cNvSpPr txBox="1"/>
          <p:nvPr/>
        </p:nvSpPr>
        <p:spPr>
          <a:xfrm>
            <a:off x="603504"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603504" y="1399032"/>
            <a:ext cx="6642929" cy="453542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 dominant</a:t>
            </a:r>
            <a:endParaRPr lang="en-US" sz="1150" dirty="0"/>
          </a:p>
        </p:txBody>
      </p:sp>
      <p:sp>
        <p:nvSpPr>
          <p:cNvPr id="10" name="Shape 8"/>
          <p:cNvSpPr/>
          <p:nvPr/>
        </p:nvSpPr>
        <p:spPr>
          <a:xfrm>
            <a:off x="7667057" y="868680"/>
            <a:ext cx="4067439" cy="1584960"/>
          </a:xfrm>
          <a:prstGeom prst="roundRect">
            <a:avLst>
              <a:gd name="adj" fmla="val 2885"/>
            </a:avLst>
          </a:prstGeom>
          <a:solidFill>
            <a:srgbClr val="FCFDFE"/>
          </a:solidFill>
          <a:ln w="15875">
            <a:solidFill>
              <a:srgbClr val="BFC8D6"/>
            </a:solidFill>
            <a:prstDash val="dash"/>
          </a:ln>
        </p:spPr>
      </p:sp>
      <p:sp>
        <p:nvSpPr>
          <p:cNvPr id="11" name="Shape 9"/>
          <p:cNvSpPr/>
          <p:nvPr/>
        </p:nvSpPr>
        <p:spPr>
          <a:xfrm>
            <a:off x="7813361" y="1014984"/>
            <a:ext cx="310896" cy="310896"/>
          </a:xfrm>
          <a:prstGeom prst="ellipse">
            <a:avLst/>
          </a:prstGeom>
          <a:solidFill>
            <a:srgbClr val="E2622C"/>
          </a:solidFill>
          <a:ln w="12700">
            <a:solidFill>
              <a:srgbClr val="E2622C"/>
            </a:solidFill>
            <a:prstDash val="solid"/>
          </a:ln>
        </p:spPr>
      </p:sp>
      <p:sp>
        <p:nvSpPr>
          <p:cNvPr id="12" name="Text 10"/>
          <p:cNvSpPr txBox="1"/>
          <p:nvPr/>
        </p:nvSpPr>
        <p:spPr>
          <a:xfrm>
            <a:off x="7813361" y="1014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7813361" y="1399032"/>
            <a:ext cx="3774831" cy="90830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Chiffre clé</a:t>
            </a:r>
            <a:endParaRPr lang="en-US" sz="1150" dirty="0"/>
          </a:p>
        </p:txBody>
      </p:sp>
      <p:sp>
        <p:nvSpPr>
          <p:cNvPr id="14" name="Shape 12"/>
          <p:cNvSpPr/>
          <p:nvPr/>
        </p:nvSpPr>
        <p:spPr>
          <a:xfrm>
            <a:off x="7667057" y="2682240"/>
            <a:ext cx="4067439" cy="1584960"/>
          </a:xfrm>
          <a:prstGeom prst="roundRect">
            <a:avLst>
              <a:gd name="adj" fmla="val 2885"/>
            </a:avLst>
          </a:prstGeom>
          <a:solidFill>
            <a:srgbClr val="FCFDFE"/>
          </a:solidFill>
          <a:ln w="15875">
            <a:solidFill>
              <a:srgbClr val="BFC8D6"/>
            </a:solidFill>
            <a:prstDash val="dash"/>
          </a:ln>
        </p:spPr>
      </p:sp>
      <p:sp>
        <p:nvSpPr>
          <p:cNvPr id="15" name="Shape 13"/>
          <p:cNvSpPr/>
          <p:nvPr/>
        </p:nvSpPr>
        <p:spPr>
          <a:xfrm>
            <a:off x="7813361" y="2828544"/>
            <a:ext cx="310896" cy="310896"/>
          </a:xfrm>
          <a:prstGeom prst="ellipse">
            <a:avLst/>
          </a:prstGeom>
          <a:solidFill>
            <a:srgbClr val="E2622C"/>
          </a:solidFill>
          <a:ln w="12700">
            <a:solidFill>
              <a:srgbClr val="E2622C"/>
            </a:solidFill>
            <a:prstDash val="solid"/>
          </a:ln>
        </p:spPr>
      </p:sp>
      <p:sp>
        <p:nvSpPr>
          <p:cNvPr id="16" name="Text 14"/>
          <p:cNvSpPr txBox="1"/>
          <p:nvPr/>
        </p:nvSpPr>
        <p:spPr>
          <a:xfrm>
            <a:off x="7813361" y="2828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7813361" y="3212592"/>
            <a:ext cx="3774831" cy="90830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 d'appoint</a:t>
            </a:r>
            <a:endParaRPr lang="en-US" sz="1150" dirty="0"/>
          </a:p>
        </p:txBody>
      </p:sp>
      <p:sp>
        <p:nvSpPr>
          <p:cNvPr id="18" name="Shape 16"/>
          <p:cNvSpPr/>
          <p:nvPr/>
        </p:nvSpPr>
        <p:spPr>
          <a:xfrm>
            <a:off x="7667057" y="4495800"/>
            <a:ext cx="4067439" cy="1584960"/>
          </a:xfrm>
          <a:prstGeom prst="roundRect">
            <a:avLst>
              <a:gd name="adj" fmla="val 2885"/>
            </a:avLst>
          </a:prstGeom>
          <a:solidFill>
            <a:srgbClr val="FCFDFE"/>
          </a:solidFill>
          <a:ln w="15875">
            <a:solidFill>
              <a:srgbClr val="BFC8D6"/>
            </a:solidFill>
            <a:prstDash val="dash"/>
          </a:ln>
        </p:spPr>
      </p:sp>
      <p:sp>
        <p:nvSpPr>
          <p:cNvPr id="19" name="Shape 17"/>
          <p:cNvSpPr/>
          <p:nvPr/>
        </p:nvSpPr>
        <p:spPr>
          <a:xfrm>
            <a:off x="7813361" y="4642104"/>
            <a:ext cx="310896" cy="310896"/>
          </a:xfrm>
          <a:prstGeom prst="ellipse">
            <a:avLst/>
          </a:prstGeom>
          <a:solidFill>
            <a:srgbClr val="E2622C"/>
          </a:solidFill>
          <a:ln w="12700">
            <a:solidFill>
              <a:srgbClr val="E2622C"/>
            </a:solidFill>
            <a:prstDash val="solid"/>
          </a:ln>
        </p:spPr>
      </p:sp>
      <p:sp>
        <p:nvSpPr>
          <p:cNvPr id="20" name="Text 18"/>
          <p:cNvSpPr txBox="1"/>
          <p:nvPr/>
        </p:nvSpPr>
        <p:spPr>
          <a:xfrm>
            <a:off x="7813361" y="4642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7813361" y="5026152"/>
            <a:ext cx="3774831" cy="908304"/>
          </a:xfrm>
          <a:prstGeom prst="rect">
            <a:avLst/>
          </a:prstGeom>
          <a:noFill/>
          <a:ln/>
        </p:spPr>
        <p:txBody>
          <a:bodyPr wrap="square" lIns="0" tIns="0" rIns="0" bIns="0" rtlCol="0" anchor="ctr"/>
          <a:lstStyle/>
          <a:p>
            <a:pPr algn="ctr" indent="0" marL="0">
              <a:buNone/>
            </a:pPr>
            <a:r>
              <a:rPr lang="en-US" sz="1150" dirty="0">
                <a:solidFill>
                  <a:srgbClr val="94A0B0"/>
                </a:solidFill>
                <a:latin typeface="Calibri" pitchFamily="34" charset="0"/>
                <a:ea typeface="Calibri" pitchFamily="34" charset="-122"/>
                <a:cs typeface="Calibri" pitchFamily="34" charset="-120"/>
              </a:rPr>
              <a:t>Graphique d'appoint</a:t>
            </a:r>
            <a:endParaRPr lang="en-US" sz="1150" dirty="0"/>
          </a:p>
        </p:txBody>
      </p:sp>
      <p:sp>
        <p:nvSpPr>
          <p:cNvPr id="22" name="Text 20"/>
          <p:cNvSpPr txBox="1"/>
          <p:nvPr/>
        </p:nvSpPr>
        <p:spPr>
          <a:xfrm>
            <a:off x="457200" y="6236208"/>
            <a:ext cx="10454335" cy="274320"/>
          </a:xfrm>
          <a:prstGeom prst="rect">
            <a:avLst/>
          </a:prstGeom>
          <a:noFill/>
          <a:ln/>
        </p:spPr>
        <p:txBody>
          <a:bodyPr wrap="square" lIns="0" tIns="0" rIns="0" bIns="0" rtlCol="0" anchor="ctr"/>
          <a:lstStyle/>
          <a:p>
            <a:pPr indent="0" marL="0">
              <a:buNone/>
            </a:pPr>
            <a:r>
              <a:rPr lang="en-US" sz="1000" i="1" dirty="0">
                <a:solidFill>
                  <a:srgbClr val="7C8598"/>
                </a:solidFill>
                <a:latin typeface="Calibri" pitchFamily="34" charset="0"/>
                <a:ea typeface="Calibri" pitchFamily="34" charset="-122"/>
                <a:cs typeface="Calibri" pitchFamily="34" charset="-120"/>
              </a:rPr>
              <a:t>Gabarit C — un graphique dominant — Quand une seule question porte la page, et que le reste sert de contexte.</a:t>
            </a:r>
            <a:endParaRPr lang="en-US" sz="10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10896"/>
            <a:ext cx="23774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Titre du tableau de bord :</a:t>
            </a:r>
            <a:endParaRPr lang="en-US" sz="1200" dirty="0"/>
          </a:p>
        </p:txBody>
      </p:sp>
      <p:sp>
        <p:nvSpPr>
          <p:cNvPr id="3" name="Shape 1"/>
          <p:cNvSpPr/>
          <p:nvPr/>
        </p:nvSpPr>
        <p:spPr>
          <a:xfrm>
            <a:off x="2880360" y="566928"/>
            <a:ext cx="4754880" cy="0"/>
          </a:xfrm>
          <a:prstGeom prst="line">
            <a:avLst/>
          </a:prstGeom>
          <a:noFill/>
          <a:ln w="12700">
            <a:solidFill>
              <a:srgbClr val="DCE1E7"/>
            </a:solidFill>
            <a:prstDash val="dash"/>
          </a:ln>
        </p:spPr>
      </p:sp>
      <p:sp>
        <p:nvSpPr>
          <p:cNvPr id="4" name="Text 2"/>
          <p:cNvSpPr txBox="1"/>
          <p:nvPr/>
        </p:nvSpPr>
        <p:spPr>
          <a:xfrm>
            <a:off x="7955280" y="310896"/>
            <a:ext cx="1005840" cy="274320"/>
          </a:xfrm>
          <a:prstGeom prst="rect">
            <a:avLst/>
          </a:prstGeom>
          <a:noFill/>
          <a:ln/>
        </p:spPr>
        <p:txBody>
          <a:bodyPr wrap="square" lIns="0" tIns="0" rIns="0" bIns="0" rtlCol="0" anchor="ctr"/>
          <a:lstStyle/>
          <a:p>
            <a:pPr indent="0" marL="0">
              <a:buNone/>
            </a:pPr>
            <a:r>
              <a:rPr lang="en-US" sz="1200" b="1" dirty="0">
                <a:solidFill>
                  <a:srgbClr val="232936"/>
                </a:solidFill>
                <a:latin typeface="Calibri" pitchFamily="34" charset="0"/>
                <a:ea typeface="Calibri" pitchFamily="34" charset="-122"/>
                <a:cs typeface="Calibri" pitchFamily="34" charset="-120"/>
              </a:rPr>
              <a:t>Pour qui :</a:t>
            </a:r>
            <a:endParaRPr lang="en-US" sz="1200" dirty="0"/>
          </a:p>
        </p:txBody>
      </p:sp>
      <p:sp>
        <p:nvSpPr>
          <p:cNvPr id="5" name="Shape 3"/>
          <p:cNvSpPr/>
          <p:nvPr/>
        </p:nvSpPr>
        <p:spPr>
          <a:xfrm>
            <a:off x="9006840" y="566928"/>
            <a:ext cx="2697480" cy="0"/>
          </a:xfrm>
          <a:prstGeom prst="line">
            <a:avLst/>
          </a:prstGeom>
          <a:noFill/>
          <a:ln w="12700">
            <a:solidFill>
              <a:srgbClr val="DCE1E7"/>
            </a:solidFill>
            <a:prstDash val="dash"/>
          </a:ln>
        </p:spPr>
      </p:sp>
      <p:sp>
        <p:nvSpPr>
          <p:cNvPr id="6" name="Shape 4"/>
          <p:cNvSpPr/>
          <p:nvPr/>
        </p:nvSpPr>
        <p:spPr>
          <a:xfrm>
            <a:off x="457200" y="868680"/>
            <a:ext cx="11277295" cy="5212080"/>
          </a:xfrm>
          <a:prstGeom prst="roundRect">
            <a:avLst>
              <a:gd name="adj" fmla="val 877"/>
            </a:avLst>
          </a:prstGeom>
          <a:solidFill>
            <a:srgbClr val="FCFDFE"/>
          </a:solidFill>
          <a:ln w="15875">
            <a:solidFill>
              <a:srgbClr val="BFC8D6"/>
            </a:solidFill>
            <a:prstDash val="dash"/>
          </a:ln>
        </p:spPr>
      </p:sp>
      <p:sp>
        <p:nvSpPr>
          <p:cNvPr id="7" name="Shape 5"/>
          <p:cNvSpPr/>
          <p:nvPr/>
        </p:nvSpPr>
        <p:spPr>
          <a:xfrm>
            <a:off x="3276524" y="1051560"/>
            <a:ext cx="0" cy="4846320"/>
          </a:xfrm>
          <a:prstGeom prst="line">
            <a:avLst/>
          </a:prstGeom>
          <a:noFill/>
          <a:ln w="12700">
            <a:solidFill>
              <a:srgbClr val="E8ECF1"/>
            </a:solidFill>
            <a:prstDash val="solid"/>
          </a:ln>
        </p:spPr>
      </p:sp>
      <p:sp>
        <p:nvSpPr>
          <p:cNvPr id="8" name="Shape 6"/>
          <p:cNvSpPr/>
          <p:nvPr/>
        </p:nvSpPr>
        <p:spPr>
          <a:xfrm>
            <a:off x="6095848" y="1051560"/>
            <a:ext cx="0" cy="4846320"/>
          </a:xfrm>
          <a:prstGeom prst="line">
            <a:avLst/>
          </a:prstGeom>
          <a:noFill/>
          <a:ln w="12700">
            <a:solidFill>
              <a:srgbClr val="E8ECF1"/>
            </a:solidFill>
            <a:prstDash val="solid"/>
          </a:ln>
        </p:spPr>
      </p:sp>
      <p:sp>
        <p:nvSpPr>
          <p:cNvPr id="9" name="Shape 7"/>
          <p:cNvSpPr/>
          <p:nvPr/>
        </p:nvSpPr>
        <p:spPr>
          <a:xfrm>
            <a:off x="8915171" y="1051560"/>
            <a:ext cx="0" cy="4846320"/>
          </a:xfrm>
          <a:prstGeom prst="line">
            <a:avLst/>
          </a:prstGeom>
          <a:noFill/>
          <a:ln w="12700">
            <a:solidFill>
              <a:srgbClr val="E8ECF1"/>
            </a:solidFill>
            <a:prstDash val="solid"/>
          </a:ln>
        </p:spPr>
      </p:sp>
      <p:sp>
        <p:nvSpPr>
          <p:cNvPr id="10" name="Shape 8"/>
          <p:cNvSpPr/>
          <p:nvPr/>
        </p:nvSpPr>
        <p:spPr>
          <a:xfrm>
            <a:off x="640080" y="3474720"/>
            <a:ext cx="10911535" cy="0"/>
          </a:xfrm>
          <a:prstGeom prst="line">
            <a:avLst/>
          </a:prstGeom>
          <a:noFill/>
          <a:ln w="12700">
            <a:solidFill>
              <a:srgbClr val="E8ECF1"/>
            </a:solidFill>
            <a:prstDash val="solid"/>
          </a:ln>
        </p:spPr>
      </p:sp>
      <p:sp>
        <p:nvSpPr>
          <p:cNvPr id="11" name="Text 9"/>
          <p:cNvSpPr txBox="1"/>
          <p:nvPr/>
        </p:nvSpPr>
        <p:spPr>
          <a:xfrm>
            <a:off x="457200" y="3246120"/>
            <a:ext cx="11277295" cy="365760"/>
          </a:xfrm>
          <a:prstGeom prst="rect">
            <a:avLst/>
          </a:prstGeom>
          <a:noFill/>
          <a:ln/>
        </p:spPr>
        <p:txBody>
          <a:bodyPr wrap="square" lIns="0" tIns="0" rIns="0" bIns="0" rtlCol="0" anchor="ctr"/>
          <a:lstStyle/>
          <a:p>
            <a:pPr algn="ctr" indent="0" marL="0">
              <a:buNone/>
            </a:pPr>
            <a:r>
              <a:rPr lang="en-US" sz="1200" dirty="0">
                <a:solidFill>
                  <a:srgbClr val="94A0B0"/>
                </a:solidFill>
                <a:latin typeface="Calibri" pitchFamily="34" charset="0"/>
                <a:ea typeface="Calibri" pitchFamily="34" charset="-122"/>
                <a:cs typeface="Calibri" pitchFamily="34" charset="-120"/>
              </a:rPr>
              <a:t>Zone libre — les repères clairs aident seulement à aligner</a:t>
            </a:r>
            <a:endParaRPr lang="en-US" sz="1200" dirty="0"/>
          </a:p>
        </p:txBody>
      </p:sp>
      <p:sp>
        <p:nvSpPr>
          <p:cNvPr id="12" name="Text 10"/>
          <p:cNvSpPr txBox="1"/>
          <p:nvPr/>
        </p:nvSpPr>
        <p:spPr>
          <a:xfrm>
            <a:off x="457200" y="6236208"/>
            <a:ext cx="10454335" cy="274320"/>
          </a:xfrm>
          <a:prstGeom prst="rect">
            <a:avLst/>
          </a:prstGeom>
          <a:noFill/>
          <a:ln/>
        </p:spPr>
        <p:txBody>
          <a:bodyPr wrap="square" lIns="0" tIns="0" rIns="0" bIns="0" rtlCol="0" anchor="ctr"/>
          <a:lstStyle/>
          <a:p>
            <a:pPr indent="0" marL="0">
              <a:buNone/>
            </a:pPr>
            <a:r>
              <a:rPr lang="en-US" sz="1000" i="1" dirty="0">
                <a:solidFill>
                  <a:srgbClr val="7C8598"/>
                </a:solidFill>
                <a:latin typeface="Calibri" pitchFamily="34" charset="0"/>
                <a:ea typeface="Calibri" pitchFamily="34" charset="-122"/>
                <a:cs typeface="Calibri" pitchFamily="34" charset="-120"/>
              </a:rPr>
              <a:t>Gabarit D — page libre — Rien d'imposé : posez, déplacez, redimensionnez. Numérotez vos zones à la main dans les commentaires.</a:t>
            </a:r>
            <a:endParaRPr lang="en-US" sz="10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777240"/>
            <a:ext cx="5486400" cy="274320"/>
          </a:xfrm>
          <a:prstGeom prst="rect">
            <a:avLst/>
          </a:prstGeom>
          <a:noFill/>
          <a:ln/>
        </p:spPr>
        <p:txBody>
          <a:bodyPr wrap="square" lIns="0" tIns="0" rIns="0" bIns="0" rtlCol="0" anchor="ctr"/>
          <a:lstStyle/>
          <a:p>
            <a:pPr indent="0" marL="0">
              <a:buNone/>
            </a:pPr>
            <a:r>
              <a:rPr lang="en-US" sz="1200" b="1" spc="300" kern="0" dirty="0">
                <a:solidFill>
                  <a:srgbClr val="E2622C"/>
                </a:solidFill>
                <a:latin typeface="Calibri" pitchFamily="34" charset="0"/>
                <a:ea typeface="Calibri" pitchFamily="34" charset="-122"/>
                <a:cs typeface="Calibri" pitchFamily="34" charset="-120"/>
              </a:rPr>
              <a:t>ANNEXE</a:t>
            </a:r>
            <a:endParaRPr lang="en-US" sz="1200" dirty="0"/>
          </a:p>
        </p:txBody>
      </p:sp>
      <p:sp>
        <p:nvSpPr>
          <p:cNvPr id="3" name="Text 1"/>
          <p:cNvSpPr txBox="1"/>
          <p:nvPr/>
        </p:nvSpPr>
        <p:spPr>
          <a:xfrm>
            <a:off x="640080" y="1078992"/>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 catalogue des graphiques</a:t>
            </a:r>
            <a:endParaRPr lang="en-US" sz="3200" dirty="0"/>
          </a:p>
        </p:txBody>
      </p:sp>
      <p:sp>
        <p:nvSpPr>
          <p:cNvPr id="4" name="Text 2"/>
          <p:cNvSpPr txBox="1"/>
          <p:nvPr/>
        </p:nvSpPr>
        <p:spPr>
          <a:xfrm>
            <a:off x="640080" y="1783080"/>
            <a:ext cx="7863840" cy="731520"/>
          </a:xfrm>
          <a:prstGeom prst="rect">
            <a:avLst/>
          </a:prstGeom>
          <a:noFill/>
          <a:ln/>
        </p:spPr>
        <p:txBody>
          <a:bodyPr wrap="square" lIns="0" tIns="0" rIns="0" bIns="0" rtlCol="0" anchor="ctr"/>
          <a:lstStyle/>
          <a:p>
            <a:pPr indent="0" marL="0">
              <a:lnSpc>
                <a:spcPts val="2000"/>
              </a:lnSpc>
              <a:buNone/>
            </a:pPr>
            <a:r>
              <a:rPr lang="en-US" sz="1300" dirty="0">
                <a:solidFill>
                  <a:srgbClr val="C3CAD6"/>
                </a:solidFill>
                <a:latin typeface="Calibri" pitchFamily="34" charset="0"/>
                <a:ea typeface="Calibri" pitchFamily="34" charset="-122"/>
                <a:cs typeface="Calibri" pitchFamily="34" charset="-120"/>
              </a:rPr>
              <a:t>Chaque type est présenté avec ses déclinaisons réelles : avec ou sans valeurs, avec ou sans légende, empilé, 100 %, formats de nombres. Copiez l'image qui correspond à ce que vous voulez voir.</a:t>
            </a:r>
            <a:endParaRPr lang="en-US" sz="1300" dirty="0"/>
          </a:p>
        </p:txBody>
      </p:sp>
      <p:sp>
        <p:nvSpPr>
          <p:cNvPr id="5" name="Text 3"/>
          <p:cNvSpPr txBox="1"/>
          <p:nvPr/>
        </p:nvSpPr>
        <p:spPr>
          <a:xfrm>
            <a:off x="640080" y="2743200"/>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Barres</a:t>
            </a:r>
            <a:endParaRPr lang="en-US" sz="1300" dirty="0"/>
          </a:p>
        </p:txBody>
      </p:sp>
      <p:sp>
        <p:nvSpPr>
          <p:cNvPr id="6" name="Text 4"/>
          <p:cNvSpPr txBox="1"/>
          <p:nvPr/>
        </p:nvSpPr>
        <p:spPr>
          <a:xfrm>
            <a:off x="3489808" y="2743200"/>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19 déclinaisons</a:t>
            </a:r>
            <a:endParaRPr lang="en-US" sz="1100" dirty="0"/>
          </a:p>
        </p:txBody>
      </p:sp>
      <p:sp>
        <p:nvSpPr>
          <p:cNvPr id="7" name="Text 5"/>
          <p:cNvSpPr txBox="1"/>
          <p:nvPr/>
        </p:nvSpPr>
        <p:spPr>
          <a:xfrm>
            <a:off x="4952848" y="2743200"/>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10</a:t>
            </a:r>
            <a:endParaRPr lang="en-US" sz="1200" dirty="0"/>
          </a:p>
        </p:txBody>
      </p:sp>
      <p:sp>
        <p:nvSpPr>
          <p:cNvPr id="8" name="Shape 6"/>
          <p:cNvSpPr/>
          <p:nvPr/>
        </p:nvSpPr>
        <p:spPr>
          <a:xfrm>
            <a:off x="640080" y="3127248"/>
            <a:ext cx="5135728" cy="0"/>
          </a:xfrm>
          <a:prstGeom prst="line">
            <a:avLst/>
          </a:prstGeom>
          <a:noFill/>
          <a:ln w="9525">
            <a:solidFill>
              <a:srgbClr val="3A4356"/>
            </a:solidFill>
            <a:prstDash val="solid"/>
          </a:ln>
        </p:spPr>
      </p:sp>
      <p:sp>
        <p:nvSpPr>
          <p:cNvPr id="9" name="Text 7"/>
          <p:cNvSpPr txBox="1"/>
          <p:nvPr/>
        </p:nvSpPr>
        <p:spPr>
          <a:xfrm>
            <a:off x="640080" y="3300984"/>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Barres horizontales</a:t>
            </a:r>
            <a:endParaRPr lang="en-US" sz="1300" dirty="0"/>
          </a:p>
        </p:txBody>
      </p:sp>
      <p:sp>
        <p:nvSpPr>
          <p:cNvPr id="10" name="Text 8"/>
          <p:cNvSpPr txBox="1"/>
          <p:nvPr/>
        </p:nvSpPr>
        <p:spPr>
          <a:xfrm>
            <a:off x="3489808" y="3300984"/>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9 déclinaisons</a:t>
            </a:r>
            <a:endParaRPr lang="en-US" sz="1100" dirty="0"/>
          </a:p>
        </p:txBody>
      </p:sp>
      <p:sp>
        <p:nvSpPr>
          <p:cNvPr id="11" name="Text 9"/>
          <p:cNvSpPr txBox="1"/>
          <p:nvPr/>
        </p:nvSpPr>
        <p:spPr>
          <a:xfrm>
            <a:off x="4952848" y="3300984"/>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14</a:t>
            </a:r>
            <a:endParaRPr lang="en-US" sz="1200" dirty="0"/>
          </a:p>
        </p:txBody>
      </p:sp>
      <p:sp>
        <p:nvSpPr>
          <p:cNvPr id="12" name="Shape 10"/>
          <p:cNvSpPr/>
          <p:nvPr/>
        </p:nvSpPr>
        <p:spPr>
          <a:xfrm>
            <a:off x="640080" y="3685032"/>
            <a:ext cx="5135728" cy="0"/>
          </a:xfrm>
          <a:prstGeom prst="line">
            <a:avLst/>
          </a:prstGeom>
          <a:noFill/>
          <a:ln w="9525">
            <a:solidFill>
              <a:srgbClr val="3A4356"/>
            </a:solidFill>
            <a:prstDash val="solid"/>
          </a:ln>
        </p:spPr>
      </p:sp>
      <p:sp>
        <p:nvSpPr>
          <p:cNvPr id="13" name="Text 11"/>
          <p:cNvSpPr txBox="1"/>
          <p:nvPr/>
        </p:nvSpPr>
        <p:spPr>
          <a:xfrm>
            <a:off x="640080" y="3858768"/>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Courbe</a:t>
            </a:r>
            <a:endParaRPr lang="en-US" sz="1300" dirty="0"/>
          </a:p>
        </p:txBody>
      </p:sp>
      <p:sp>
        <p:nvSpPr>
          <p:cNvPr id="14" name="Text 12"/>
          <p:cNvSpPr txBox="1"/>
          <p:nvPr/>
        </p:nvSpPr>
        <p:spPr>
          <a:xfrm>
            <a:off x="3489808" y="3858768"/>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14 déclinaisons</a:t>
            </a:r>
            <a:endParaRPr lang="en-US" sz="1100" dirty="0"/>
          </a:p>
        </p:txBody>
      </p:sp>
      <p:sp>
        <p:nvSpPr>
          <p:cNvPr id="15" name="Text 13"/>
          <p:cNvSpPr txBox="1"/>
          <p:nvPr/>
        </p:nvSpPr>
        <p:spPr>
          <a:xfrm>
            <a:off x="4952848" y="3858768"/>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16</a:t>
            </a:r>
            <a:endParaRPr lang="en-US" sz="1200" dirty="0"/>
          </a:p>
        </p:txBody>
      </p:sp>
      <p:sp>
        <p:nvSpPr>
          <p:cNvPr id="16" name="Shape 14"/>
          <p:cNvSpPr/>
          <p:nvPr/>
        </p:nvSpPr>
        <p:spPr>
          <a:xfrm>
            <a:off x="640080" y="4242816"/>
            <a:ext cx="5135728" cy="0"/>
          </a:xfrm>
          <a:prstGeom prst="line">
            <a:avLst/>
          </a:prstGeom>
          <a:noFill/>
          <a:ln w="9525">
            <a:solidFill>
              <a:srgbClr val="3A4356"/>
            </a:solidFill>
            <a:prstDash val="solid"/>
          </a:ln>
        </p:spPr>
      </p:sp>
      <p:sp>
        <p:nvSpPr>
          <p:cNvPr id="17" name="Text 15"/>
          <p:cNvSpPr txBox="1"/>
          <p:nvPr/>
        </p:nvSpPr>
        <p:spPr>
          <a:xfrm>
            <a:off x="640080" y="4416552"/>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Aire</a:t>
            </a:r>
            <a:endParaRPr lang="en-US" sz="1300" dirty="0"/>
          </a:p>
        </p:txBody>
      </p:sp>
      <p:sp>
        <p:nvSpPr>
          <p:cNvPr id="18" name="Text 16"/>
          <p:cNvSpPr txBox="1"/>
          <p:nvPr/>
        </p:nvSpPr>
        <p:spPr>
          <a:xfrm>
            <a:off x="3489808" y="4416552"/>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10 déclinaisons</a:t>
            </a:r>
            <a:endParaRPr lang="en-US" sz="1100" dirty="0"/>
          </a:p>
        </p:txBody>
      </p:sp>
      <p:sp>
        <p:nvSpPr>
          <p:cNvPr id="19" name="Text 17"/>
          <p:cNvSpPr txBox="1"/>
          <p:nvPr/>
        </p:nvSpPr>
        <p:spPr>
          <a:xfrm>
            <a:off x="4952848" y="4416552"/>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19</a:t>
            </a:r>
            <a:endParaRPr lang="en-US" sz="1200" dirty="0"/>
          </a:p>
        </p:txBody>
      </p:sp>
      <p:sp>
        <p:nvSpPr>
          <p:cNvPr id="20" name="Shape 18"/>
          <p:cNvSpPr/>
          <p:nvPr/>
        </p:nvSpPr>
        <p:spPr>
          <a:xfrm>
            <a:off x="640080" y="4800600"/>
            <a:ext cx="5135728" cy="0"/>
          </a:xfrm>
          <a:prstGeom prst="line">
            <a:avLst/>
          </a:prstGeom>
          <a:noFill/>
          <a:ln w="9525">
            <a:solidFill>
              <a:srgbClr val="3A4356"/>
            </a:solidFill>
            <a:prstDash val="solid"/>
          </a:ln>
        </p:spPr>
      </p:sp>
      <p:sp>
        <p:nvSpPr>
          <p:cNvPr id="21" name="Text 19"/>
          <p:cNvSpPr txBox="1"/>
          <p:nvPr/>
        </p:nvSpPr>
        <p:spPr>
          <a:xfrm>
            <a:off x="640080" y="4974336"/>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Combiné (barres + courbe)</a:t>
            </a:r>
            <a:endParaRPr lang="en-US" sz="1300" dirty="0"/>
          </a:p>
        </p:txBody>
      </p:sp>
      <p:sp>
        <p:nvSpPr>
          <p:cNvPr id="22" name="Text 20"/>
          <p:cNvSpPr txBox="1"/>
          <p:nvPr/>
        </p:nvSpPr>
        <p:spPr>
          <a:xfrm>
            <a:off x="3489808" y="4974336"/>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10 déclinaisons</a:t>
            </a:r>
            <a:endParaRPr lang="en-US" sz="1100" dirty="0"/>
          </a:p>
        </p:txBody>
      </p:sp>
      <p:sp>
        <p:nvSpPr>
          <p:cNvPr id="23" name="Text 21"/>
          <p:cNvSpPr txBox="1"/>
          <p:nvPr/>
        </p:nvSpPr>
        <p:spPr>
          <a:xfrm>
            <a:off x="4952848" y="4974336"/>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21</a:t>
            </a:r>
            <a:endParaRPr lang="en-US" sz="1200" dirty="0"/>
          </a:p>
        </p:txBody>
      </p:sp>
      <p:sp>
        <p:nvSpPr>
          <p:cNvPr id="24" name="Shape 22"/>
          <p:cNvSpPr/>
          <p:nvPr/>
        </p:nvSpPr>
        <p:spPr>
          <a:xfrm>
            <a:off x="640080" y="5358384"/>
            <a:ext cx="5135728" cy="0"/>
          </a:xfrm>
          <a:prstGeom prst="line">
            <a:avLst/>
          </a:prstGeom>
          <a:noFill/>
          <a:ln w="9525">
            <a:solidFill>
              <a:srgbClr val="3A4356"/>
            </a:solidFill>
            <a:prstDash val="solid"/>
          </a:ln>
        </p:spPr>
      </p:sp>
      <p:sp>
        <p:nvSpPr>
          <p:cNvPr id="25" name="Text 23"/>
          <p:cNvSpPr txBox="1"/>
          <p:nvPr/>
        </p:nvSpPr>
        <p:spPr>
          <a:xfrm>
            <a:off x="640080" y="5532120"/>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Camembert</a:t>
            </a:r>
            <a:endParaRPr lang="en-US" sz="1300" dirty="0"/>
          </a:p>
        </p:txBody>
      </p:sp>
      <p:sp>
        <p:nvSpPr>
          <p:cNvPr id="26" name="Text 24"/>
          <p:cNvSpPr txBox="1"/>
          <p:nvPr/>
        </p:nvSpPr>
        <p:spPr>
          <a:xfrm>
            <a:off x="3489808" y="5532120"/>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13 déclinaisons</a:t>
            </a:r>
            <a:endParaRPr lang="en-US" sz="1100" dirty="0"/>
          </a:p>
        </p:txBody>
      </p:sp>
      <p:sp>
        <p:nvSpPr>
          <p:cNvPr id="27" name="Text 25"/>
          <p:cNvSpPr txBox="1"/>
          <p:nvPr/>
        </p:nvSpPr>
        <p:spPr>
          <a:xfrm>
            <a:off x="4952848" y="5532120"/>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23</a:t>
            </a:r>
            <a:endParaRPr lang="en-US" sz="1200" dirty="0"/>
          </a:p>
        </p:txBody>
      </p:sp>
      <p:sp>
        <p:nvSpPr>
          <p:cNvPr id="28" name="Shape 26"/>
          <p:cNvSpPr/>
          <p:nvPr/>
        </p:nvSpPr>
        <p:spPr>
          <a:xfrm>
            <a:off x="640080" y="5916168"/>
            <a:ext cx="5135728" cy="0"/>
          </a:xfrm>
          <a:prstGeom prst="line">
            <a:avLst/>
          </a:prstGeom>
          <a:noFill/>
          <a:ln w="9525">
            <a:solidFill>
              <a:srgbClr val="3A4356"/>
            </a:solidFill>
            <a:prstDash val="solid"/>
          </a:ln>
        </p:spPr>
      </p:sp>
      <p:sp>
        <p:nvSpPr>
          <p:cNvPr id="29" name="Text 27"/>
          <p:cNvSpPr txBox="1"/>
          <p:nvPr/>
        </p:nvSpPr>
        <p:spPr>
          <a:xfrm>
            <a:off x="6233008" y="2743200"/>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Nombre (chiffre clé)</a:t>
            </a:r>
            <a:endParaRPr lang="en-US" sz="1300" dirty="0"/>
          </a:p>
        </p:txBody>
      </p:sp>
      <p:sp>
        <p:nvSpPr>
          <p:cNvPr id="30" name="Text 28"/>
          <p:cNvSpPr txBox="1"/>
          <p:nvPr/>
        </p:nvSpPr>
        <p:spPr>
          <a:xfrm>
            <a:off x="9082735" y="2743200"/>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11 déclinaisons</a:t>
            </a:r>
            <a:endParaRPr lang="en-US" sz="1100" dirty="0"/>
          </a:p>
        </p:txBody>
      </p:sp>
      <p:sp>
        <p:nvSpPr>
          <p:cNvPr id="31" name="Text 29"/>
          <p:cNvSpPr txBox="1"/>
          <p:nvPr/>
        </p:nvSpPr>
        <p:spPr>
          <a:xfrm>
            <a:off x="10545775" y="2743200"/>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26</a:t>
            </a:r>
            <a:endParaRPr lang="en-US" sz="1200" dirty="0"/>
          </a:p>
        </p:txBody>
      </p:sp>
      <p:sp>
        <p:nvSpPr>
          <p:cNvPr id="32" name="Shape 30"/>
          <p:cNvSpPr/>
          <p:nvPr/>
        </p:nvSpPr>
        <p:spPr>
          <a:xfrm>
            <a:off x="6233008" y="3127248"/>
            <a:ext cx="5135728" cy="0"/>
          </a:xfrm>
          <a:prstGeom prst="line">
            <a:avLst/>
          </a:prstGeom>
          <a:noFill/>
          <a:ln w="9525">
            <a:solidFill>
              <a:srgbClr val="3A4356"/>
            </a:solidFill>
            <a:prstDash val="solid"/>
          </a:ln>
        </p:spPr>
      </p:sp>
      <p:sp>
        <p:nvSpPr>
          <p:cNvPr id="33" name="Text 31"/>
          <p:cNvSpPr txBox="1"/>
          <p:nvPr/>
        </p:nvSpPr>
        <p:spPr>
          <a:xfrm>
            <a:off x="6233008" y="3300984"/>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Tendance (smart scalar)</a:t>
            </a:r>
            <a:endParaRPr lang="en-US" sz="1300" dirty="0"/>
          </a:p>
        </p:txBody>
      </p:sp>
      <p:sp>
        <p:nvSpPr>
          <p:cNvPr id="34" name="Text 32"/>
          <p:cNvSpPr txBox="1"/>
          <p:nvPr/>
        </p:nvSpPr>
        <p:spPr>
          <a:xfrm>
            <a:off x="9082735" y="3300984"/>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7 déclinaisons</a:t>
            </a:r>
            <a:endParaRPr lang="en-US" sz="1100" dirty="0"/>
          </a:p>
        </p:txBody>
      </p:sp>
      <p:sp>
        <p:nvSpPr>
          <p:cNvPr id="35" name="Text 33"/>
          <p:cNvSpPr txBox="1"/>
          <p:nvPr/>
        </p:nvSpPr>
        <p:spPr>
          <a:xfrm>
            <a:off x="10545775" y="3300984"/>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28</a:t>
            </a:r>
            <a:endParaRPr lang="en-US" sz="1200" dirty="0"/>
          </a:p>
        </p:txBody>
      </p:sp>
      <p:sp>
        <p:nvSpPr>
          <p:cNvPr id="36" name="Shape 34"/>
          <p:cNvSpPr/>
          <p:nvPr/>
        </p:nvSpPr>
        <p:spPr>
          <a:xfrm>
            <a:off x="6233008" y="3685032"/>
            <a:ext cx="5135728" cy="0"/>
          </a:xfrm>
          <a:prstGeom prst="line">
            <a:avLst/>
          </a:prstGeom>
          <a:noFill/>
          <a:ln w="9525">
            <a:solidFill>
              <a:srgbClr val="3A4356"/>
            </a:solidFill>
            <a:prstDash val="solid"/>
          </a:ln>
        </p:spPr>
      </p:sp>
      <p:sp>
        <p:nvSpPr>
          <p:cNvPr id="37" name="Text 35"/>
          <p:cNvSpPr txBox="1"/>
          <p:nvPr/>
        </p:nvSpPr>
        <p:spPr>
          <a:xfrm>
            <a:off x="6233008" y="3858768"/>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Cascade (waterfall)</a:t>
            </a:r>
            <a:endParaRPr lang="en-US" sz="1300" dirty="0"/>
          </a:p>
        </p:txBody>
      </p:sp>
      <p:sp>
        <p:nvSpPr>
          <p:cNvPr id="38" name="Text 36"/>
          <p:cNvSpPr txBox="1"/>
          <p:nvPr/>
        </p:nvSpPr>
        <p:spPr>
          <a:xfrm>
            <a:off x="9082735" y="3858768"/>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5 déclinaisons</a:t>
            </a:r>
            <a:endParaRPr lang="en-US" sz="1100" dirty="0"/>
          </a:p>
        </p:txBody>
      </p:sp>
      <p:sp>
        <p:nvSpPr>
          <p:cNvPr id="39" name="Text 37"/>
          <p:cNvSpPr txBox="1"/>
          <p:nvPr/>
        </p:nvSpPr>
        <p:spPr>
          <a:xfrm>
            <a:off x="10545775" y="3858768"/>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30</a:t>
            </a:r>
            <a:endParaRPr lang="en-US" sz="1200" dirty="0"/>
          </a:p>
        </p:txBody>
      </p:sp>
      <p:sp>
        <p:nvSpPr>
          <p:cNvPr id="40" name="Shape 38"/>
          <p:cNvSpPr/>
          <p:nvPr/>
        </p:nvSpPr>
        <p:spPr>
          <a:xfrm>
            <a:off x="6233008" y="4242816"/>
            <a:ext cx="5135728" cy="0"/>
          </a:xfrm>
          <a:prstGeom prst="line">
            <a:avLst/>
          </a:prstGeom>
          <a:noFill/>
          <a:ln w="9525">
            <a:solidFill>
              <a:srgbClr val="3A4356"/>
            </a:solidFill>
            <a:prstDash val="solid"/>
          </a:ln>
        </p:spPr>
      </p:sp>
      <p:sp>
        <p:nvSpPr>
          <p:cNvPr id="41" name="Text 39"/>
          <p:cNvSpPr txBox="1"/>
          <p:nvPr/>
        </p:nvSpPr>
        <p:spPr>
          <a:xfrm>
            <a:off x="6233008" y="4416552"/>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Jauge</a:t>
            </a:r>
            <a:endParaRPr lang="en-US" sz="1300" dirty="0"/>
          </a:p>
        </p:txBody>
      </p:sp>
      <p:sp>
        <p:nvSpPr>
          <p:cNvPr id="42" name="Text 40"/>
          <p:cNvSpPr txBox="1"/>
          <p:nvPr/>
        </p:nvSpPr>
        <p:spPr>
          <a:xfrm>
            <a:off x="9082735" y="4416552"/>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3 déclinaisons</a:t>
            </a:r>
            <a:endParaRPr lang="en-US" sz="1100" dirty="0"/>
          </a:p>
        </p:txBody>
      </p:sp>
      <p:sp>
        <p:nvSpPr>
          <p:cNvPr id="43" name="Text 41"/>
          <p:cNvSpPr txBox="1"/>
          <p:nvPr/>
        </p:nvSpPr>
        <p:spPr>
          <a:xfrm>
            <a:off x="10545775" y="4416552"/>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31</a:t>
            </a:r>
            <a:endParaRPr lang="en-US" sz="1200" dirty="0"/>
          </a:p>
        </p:txBody>
      </p:sp>
      <p:sp>
        <p:nvSpPr>
          <p:cNvPr id="44" name="Shape 42"/>
          <p:cNvSpPr/>
          <p:nvPr/>
        </p:nvSpPr>
        <p:spPr>
          <a:xfrm>
            <a:off x="6233008" y="4800600"/>
            <a:ext cx="5135728" cy="0"/>
          </a:xfrm>
          <a:prstGeom prst="line">
            <a:avLst/>
          </a:prstGeom>
          <a:noFill/>
          <a:ln w="9525">
            <a:solidFill>
              <a:srgbClr val="3A4356"/>
            </a:solidFill>
            <a:prstDash val="solid"/>
          </a:ln>
        </p:spPr>
      </p:sp>
      <p:sp>
        <p:nvSpPr>
          <p:cNvPr id="45" name="Text 43"/>
          <p:cNvSpPr txBox="1"/>
          <p:nvPr/>
        </p:nvSpPr>
        <p:spPr>
          <a:xfrm>
            <a:off x="6233008" y="4974336"/>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Progression</a:t>
            </a:r>
            <a:endParaRPr lang="en-US" sz="1300" dirty="0"/>
          </a:p>
        </p:txBody>
      </p:sp>
      <p:sp>
        <p:nvSpPr>
          <p:cNvPr id="46" name="Text 44"/>
          <p:cNvSpPr txBox="1"/>
          <p:nvPr/>
        </p:nvSpPr>
        <p:spPr>
          <a:xfrm>
            <a:off x="9082735" y="4974336"/>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3 déclinaisons</a:t>
            </a:r>
            <a:endParaRPr lang="en-US" sz="1100" dirty="0"/>
          </a:p>
        </p:txBody>
      </p:sp>
      <p:sp>
        <p:nvSpPr>
          <p:cNvPr id="47" name="Text 45"/>
          <p:cNvSpPr txBox="1"/>
          <p:nvPr/>
        </p:nvSpPr>
        <p:spPr>
          <a:xfrm>
            <a:off x="10545775" y="4974336"/>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32</a:t>
            </a:r>
            <a:endParaRPr lang="en-US" sz="1200" dirty="0"/>
          </a:p>
        </p:txBody>
      </p:sp>
      <p:sp>
        <p:nvSpPr>
          <p:cNvPr id="48" name="Shape 46"/>
          <p:cNvSpPr/>
          <p:nvPr/>
        </p:nvSpPr>
        <p:spPr>
          <a:xfrm>
            <a:off x="6233008" y="5358384"/>
            <a:ext cx="5135728" cy="0"/>
          </a:xfrm>
          <a:prstGeom prst="line">
            <a:avLst/>
          </a:prstGeom>
          <a:noFill/>
          <a:ln w="9525">
            <a:solidFill>
              <a:srgbClr val="3A4356"/>
            </a:solidFill>
            <a:prstDash val="solid"/>
          </a:ln>
        </p:spPr>
      </p:sp>
      <p:sp>
        <p:nvSpPr>
          <p:cNvPr id="49" name="Text 47"/>
          <p:cNvSpPr txBox="1"/>
          <p:nvPr/>
        </p:nvSpPr>
        <p:spPr>
          <a:xfrm>
            <a:off x="6233008" y="5532120"/>
            <a:ext cx="3764128"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Nuage de points</a:t>
            </a:r>
            <a:endParaRPr lang="en-US" sz="1300" dirty="0"/>
          </a:p>
        </p:txBody>
      </p:sp>
      <p:sp>
        <p:nvSpPr>
          <p:cNvPr id="50" name="Text 48"/>
          <p:cNvSpPr txBox="1"/>
          <p:nvPr/>
        </p:nvSpPr>
        <p:spPr>
          <a:xfrm>
            <a:off x="9082735" y="5532120"/>
            <a:ext cx="1371600" cy="274320"/>
          </a:xfrm>
          <a:prstGeom prst="rect">
            <a:avLst/>
          </a:prstGeom>
          <a:noFill/>
          <a:ln/>
        </p:spPr>
        <p:txBody>
          <a:bodyPr wrap="square" lIns="0" tIns="0" rIns="0" bIns="0" rtlCol="0" anchor="ctr"/>
          <a:lstStyle/>
          <a:p>
            <a:pPr algn="r" indent="0" marL="0">
              <a:buNone/>
            </a:pPr>
            <a:r>
              <a:rPr lang="en-US" sz="1100" dirty="0">
                <a:solidFill>
                  <a:srgbClr val="8B95A6"/>
                </a:solidFill>
                <a:latin typeface="Calibri" pitchFamily="34" charset="0"/>
                <a:ea typeface="Calibri" pitchFamily="34" charset="-122"/>
                <a:cs typeface="Calibri" pitchFamily="34" charset="-120"/>
              </a:rPr>
              <a:t>5 déclinaisons</a:t>
            </a:r>
            <a:endParaRPr lang="en-US" sz="1100" dirty="0"/>
          </a:p>
        </p:txBody>
      </p:sp>
      <p:sp>
        <p:nvSpPr>
          <p:cNvPr id="51" name="Text 49"/>
          <p:cNvSpPr txBox="1"/>
          <p:nvPr/>
        </p:nvSpPr>
        <p:spPr>
          <a:xfrm>
            <a:off x="10545775" y="5532120"/>
            <a:ext cx="822960" cy="274320"/>
          </a:xfrm>
          <a:prstGeom prst="rect">
            <a:avLst/>
          </a:prstGeom>
          <a:noFill/>
          <a:ln/>
        </p:spPr>
        <p:txBody>
          <a:bodyPr wrap="square" lIns="0" tIns="0" rIns="0" bIns="0" rtlCol="0" anchor="ctr"/>
          <a:lstStyle/>
          <a:p>
            <a:pPr algn="r" indent="0" marL="0">
              <a:buNone/>
            </a:pPr>
            <a:r>
              <a:rPr lang="en-US" sz="1200" b="1" dirty="0">
                <a:solidFill>
                  <a:srgbClr val="E2622C"/>
                </a:solidFill>
                <a:latin typeface="Calibri" pitchFamily="34" charset="0"/>
                <a:ea typeface="Calibri" pitchFamily="34" charset="-122"/>
                <a:cs typeface="Calibri" pitchFamily="34" charset="-120"/>
              </a:rPr>
              <a:t>p. 33</a:t>
            </a:r>
            <a:endParaRPr lang="en-US" sz="1200" dirty="0"/>
          </a:p>
        </p:txBody>
      </p:sp>
      <p:sp>
        <p:nvSpPr>
          <p:cNvPr id="52" name="Shape 50"/>
          <p:cNvSpPr/>
          <p:nvPr/>
        </p:nvSpPr>
        <p:spPr>
          <a:xfrm>
            <a:off x="6233008" y="5916168"/>
            <a:ext cx="5135728" cy="0"/>
          </a:xfrm>
          <a:prstGeom prst="line">
            <a:avLst/>
          </a:prstGeom>
          <a:noFill/>
          <a:ln w="9525">
            <a:solidFill>
              <a:srgbClr val="3A4356"/>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BARRES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Barres — déclinaisons (1/4)</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Comparer des catégories entre elles, ou suivre un petit nombre de périodes. Le réflexe par défaut quand on hésite.</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1-barres/01-groupees.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Groupées (défaut)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01-barres/01-groupees.png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1-barres/02-groupees-avec-valeurs.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Groupées + valeurs</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01-barres/02-groupees-avec-valeurs.png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1-barres/03-groupees-sans-legende.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Groupées sans légende</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01-barres/03-groupees-sans-legende.png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1-barres/04-empilees.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Empilées</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01-barres/04-empilees.png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1-barres/05-empilees-avec-valeurs.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Empilées + valeurs</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01-barres/05-empilees-avec-valeurs.png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BARRES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Barres — déclinaisons (2/4)</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1-barres/06-empilees-avec-totaux.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Empilées + totaux</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01-barres/06-empilees-avec-totaux.png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1-barres/07-empilees-100.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Empilées 100 %</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01-barres/07-empilees-100.png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1-barres/08-empilees-100-avec-valeurs.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Empilées 100 % + valeurs</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01-barres/08-empilees-100-avec-valeurs.png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1-barres/09-serie-unique.png">    </p:cNvPr>
          <p:cNvPicPr>
            <a:picLocks noChangeAspect="1"/>
          </p:cNvPicPr>
          <p:nvPr/>
        </p:nvPicPr>
        <p:blipFill>
          <a:blip r:embed="rId4"/>
          <a:stretch>
            <a:fillRect/>
          </a:stretch>
        </p:blipFill>
        <p:spPr>
          <a:xfrm>
            <a:off x="2654316" y="3895344"/>
            <a:ext cx="3038622" cy="1755648"/>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Série unique</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01-barres/09-serie-unique.png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1-barres/10-serie-unique-avec-valeurs.png">    </p:cNvPr>
          <p:cNvPicPr>
            <a:picLocks noChangeAspect="1"/>
          </p:cNvPicPr>
          <p:nvPr/>
        </p:nvPicPr>
        <p:blipFill>
          <a:blip r:embed="rId5"/>
          <a:stretch>
            <a:fillRect/>
          </a:stretch>
        </p:blipFill>
        <p:spPr>
          <a:xfrm>
            <a:off x="6498758" y="3895344"/>
            <a:ext cx="3038622" cy="1755648"/>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10  </a:t>
            </a:r>
            <a:pPr indent="0" marL="0">
              <a:buNone/>
            </a:pPr>
            <a:r>
              <a:rPr lang="en-US" sz="1100" b="1" dirty="0">
                <a:solidFill>
                  <a:srgbClr val="232936"/>
                </a:solidFill>
                <a:latin typeface="Calibri" pitchFamily="34" charset="0"/>
                <a:ea typeface="Calibri" pitchFamily="34" charset="-122"/>
                <a:cs typeface="Calibri" pitchFamily="34" charset="-120"/>
              </a:rPr>
              <a:t>Série unique + valeurs</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01-barres/10-serie-unique-avec-valeurs.png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BARRES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Barres — déclinaisons (3/4)</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1-barres/11-avec-ligne-objectif.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11  </a:t>
            </a:r>
            <a:pPr indent="0" marL="0">
              <a:buNone/>
            </a:pPr>
            <a:r>
              <a:rPr lang="en-US" sz="1100" b="1" dirty="0">
                <a:solidFill>
                  <a:srgbClr val="232936"/>
                </a:solidFill>
                <a:latin typeface="Calibri" pitchFamily="34" charset="0"/>
                <a:ea typeface="Calibri" pitchFamily="34" charset="-122"/>
                <a:cs typeface="Calibri" pitchFamily="34" charset="-120"/>
              </a:rPr>
              <a:t>Ligne d'objectif</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01-barres/11-avec-ligne-objectif.png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1-barres/12-avec-courbe-tendance.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12  </a:t>
            </a:r>
            <a:pPr indent="0" marL="0">
              <a:buNone/>
            </a:pPr>
            <a:r>
              <a:rPr lang="en-US" sz="1100" b="1" dirty="0">
                <a:solidFill>
                  <a:srgbClr val="232936"/>
                </a:solidFill>
                <a:latin typeface="Calibri" pitchFamily="34" charset="0"/>
                <a:ea typeface="Calibri" pitchFamily="34" charset="-122"/>
                <a:cs typeface="Calibri" pitchFamily="34" charset="-120"/>
              </a:rPr>
              <a:t>Courbe de tendance</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01-barres/12-avec-courbe-tendance.png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1-barres/13-triees-valeur-decroissante.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13  </a:t>
            </a:r>
            <a:pPr indent="0" marL="0">
              <a:buNone/>
            </a:pPr>
            <a:r>
              <a:rPr lang="en-US" sz="1100" b="1" dirty="0">
                <a:solidFill>
                  <a:srgbClr val="232936"/>
                </a:solidFill>
                <a:latin typeface="Calibri" pitchFamily="34" charset="0"/>
                <a:ea typeface="Calibri" pitchFamily="34" charset="-122"/>
                <a:cs typeface="Calibri" pitchFamily="34" charset="-120"/>
              </a:rPr>
              <a:t>Triées par valeur</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01-barres/13-triees-valeur-decroissante.png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1-barres/14-sans-etiquettes-axes.png">    </p:cNvPr>
          <p:cNvPicPr>
            <a:picLocks noChangeAspect="1"/>
          </p:cNvPicPr>
          <p:nvPr/>
        </p:nvPicPr>
        <p:blipFill>
          <a:blip r:embed="rId4"/>
          <a:stretch>
            <a:fillRect/>
          </a:stretch>
        </p:blipFill>
        <p:spPr>
          <a:xfrm>
            <a:off x="2654316" y="3895344"/>
            <a:ext cx="3038622" cy="1755648"/>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14  </a:t>
            </a:r>
            <a:pPr indent="0" marL="0">
              <a:buNone/>
            </a:pPr>
            <a:r>
              <a:rPr lang="en-US" sz="1100" b="1" dirty="0">
                <a:solidFill>
                  <a:srgbClr val="232936"/>
                </a:solidFill>
                <a:latin typeface="Calibri" pitchFamily="34" charset="0"/>
                <a:ea typeface="Calibri" pitchFamily="34" charset="-122"/>
                <a:cs typeface="Calibri" pitchFamily="34" charset="-120"/>
              </a:rPr>
              <a:t>Sans étiquettes d'axes</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01-barres/14-sans-etiquettes-axes.png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1-barres/15-avec-titres-axes.png">    </p:cNvPr>
          <p:cNvPicPr>
            <a:picLocks noChangeAspect="1"/>
          </p:cNvPicPr>
          <p:nvPr/>
        </p:nvPicPr>
        <p:blipFill>
          <a:blip r:embed="rId5"/>
          <a:stretch>
            <a:fillRect/>
          </a:stretch>
        </p:blipFill>
        <p:spPr>
          <a:xfrm>
            <a:off x="6498758" y="3895344"/>
            <a:ext cx="3038622" cy="1755648"/>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15  </a:t>
            </a:r>
            <a:pPr indent="0" marL="0">
              <a:buNone/>
            </a:pPr>
            <a:r>
              <a:rPr lang="en-US" sz="1100" b="1" dirty="0">
                <a:solidFill>
                  <a:srgbClr val="232936"/>
                </a:solidFill>
                <a:latin typeface="Calibri" pitchFamily="34" charset="0"/>
                <a:ea typeface="Calibri" pitchFamily="34" charset="-122"/>
                <a:cs typeface="Calibri" pitchFamily="34" charset="-120"/>
              </a:rPr>
              <a:t>Titres d'axes personnalisés</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01-barres/15-avec-titres-axes.png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BARRES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Barres — déclinaisons (4/4)</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1-barres/16-valeurs-compactes.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16  </a:t>
            </a:r>
            <a:pPr indent="0" marL="0">
              <a:buNone/>
            </a:pPr>
            <a:r>
              <a:rPr lang="en-US" sz="1100" b="1" dirty="0">
                <a:solidFill>
                  <a:srgbClr val="232936"/>
                </a:solidFill>
                <a:latin typeface="Calibri" pitchFamily="34" charset="0"/>
                <a:ea typeface="Calibri" pitchFamily="34" charset="-122"/>
                <a:cs typeface="Calibri" pitchFamily="34" charset="-120"/>
              </a:rPr>
              <a:t>Valeurs compactes</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01-barres/16-valeurs-compactes.png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1-barres/17-echelle-logarithmique.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17  </a:t>
            </a:r>
            <a:pPr indent="0" marL="0">
              <a:buNone/>
            </a:pPr>
            <a:r>
              <a:rPr lang="en-US" sz="1100" b="1" dirty="0">
                <a:solidFill>
                  <a:srgbClr val="232936"/>
                </a:solidFill>
                <a:latin typeface="Calibri" pitchFamily="34" charset="0"/>
                <a:ea typeface="Calibri" pitchFamily="34" charset="-122"/>
                <a:cs typeface="Calibri" pitchFamily="34" charset="-120"/>
              </a:rPr>
              <a:t>Échelle logarithmique</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01-barres/17-echelle-logarithmique.png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1-barres/18-deux-mesures.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18  </a:t>
            </a:r>
            <a:pPr indent="0" marL="0">
              <a:buNone/>
            </a:pPr>
            <a:r>
              <a:rPr lang="en-US" sz="1100" b="1" dirty="0">
                <a:solidFill>
                  <a:srgbClr val="232936"/>
                </a:solidFill>
                <a:latin typeface="Calibri" pitchFamily="34" charset="0"/>
                <a:ea typeface="Calibri" pitchFamily="34" charset="-122"/>
                <a:cs typeface="Calibri" pitchFamily="34" charset="-120"/>
              </a:rPr>
              <a:t>Deux mesures</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01-barres/18-deux-mesures.png</a:t>
            </a:r>
            <a:endParaRPr lang="en-US" sz="800" dirty="0"/>
          </a:p>
        </p:txBody>
      </p:sp>
      <p:sp>
        <p:nvSpPr>
          <p:cNvPr id="16" name="Shape 11"/>
          <p:cNvSpPr/>
          <p:nvPr/>
        </p:nvSpPr>
        <p:spPr>
          <a:xfrm>
            <a:off x="4301642"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1-barres/19-couleurs-personnalisees.png">    </p:cNvPr>
          <p:cNvPicPr>
            <a:picLocks noChangeAspect="1"/>
          </p:cNvPicPr>
          <p:nvPr/>
        </p:nvPicPr>
        <p:blipFill>
          <a:blip r:embed="rId4"/>
          <a:stretch>
            <a:fillRect/>
          </a:stretch>
        </p:blipFill>
        <p:spPr>
          <a:xfrm>
            <a:off x="4576537" y="3895344"/>
            <a:ext cx="3038622" cy="1755648"/>
          </a:xfrm>
          <a:prstGeom prst="rect">
            <a:avLst/>
          </a:prstGeom>
        </p:spPr>
      </p:pic>
      <p:sp>
        <p:nvSpPr>
          <p:cNvPr id="18" name="Text 12"/>
          <p:cNvSpPr txBox="1"/>
          <p:nvPr/>
        </p:nvSpPr>
        <p:spPr>
          <a:xfrm>
            <a:off x="4429658"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19  </a:t>
            </a:r>
            <a:pPr indent="0" marL="0">
              <a:buNone/>
            </a:pPr>
            <a:r>
              <a:rPr lang="en-US" sz="1100" b="1" dirty="0">
                <a:solidFill>
                  <a:srgbClr val="232936"/>
                </a:solidFill>
                <a:latin typeface="Calibri" pitchFamily="34" charset="0"/>
                <a:ea typeface="Calibri" pitchFamily="34" charset="-122"/>
                <a:cs typeface="Calibri" pitchFamily="34" charset="-120"/>
              </a:rPr>
              <a:t>Couleurs personnalisées</a:t>
            </a:r>
            <a:endParaRPr lang="en-US" sz="1100" dirty="0"/>
          </a:p>
        </p:txBody>
      </p:sp>
      <p:sp>
        <p:nvSpPr>
          <p:cNvPr id="19" name="Text 13"/>
          <p:cNvSpPr txBox="1"/>
          <p:nvPr/>
        </p:nvSpPr>
        <p:spPr>
          <a:xfrm>
            <a:off x="4429658"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01-barres/19-couleurs-personnalisees.png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BARRES HORIZONTALES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Barres horizontales — déclinaisons (1/2)</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Un classement (top 10, palmarès), ou des libellés de catégories trop longs pour tenir sous un axe X.</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2-barres-horizontales/01-defaut.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2-barres-horizontales/02-avec-valeurs.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Avec valeurs</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02-barres-horizontales/02-avec-valeurs.png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2-barres-horizontales/03-empilees.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Empilées</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02-barres-horizontales/03-empilees.png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2-barres-horizontales/04-empilees-avec-valeurs.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Empilées + valeurs</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02-barres-horizontales/04-empilees-avec-valeurs.png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2-barres-horizontales/05-empilees-100.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Empilées 100 %</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02-barres-horizontales/05-empilees-100.png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BARRES HORIZONTALES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Barres horizontales — déclinaisons (2/2)</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2-barres-horizontales/06-empilees-100-avec-valeurs.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Empilées 100 % + valeurs</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02-barres-horizontales/06-empilees-100-avec-valeurs.png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2-barres-horizontales/07-sans-legende.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Sans légende</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02-barres-horizontales/07-sans-legende.png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2-barres-horizontales/08-serie-unique-triee.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Série unique triée</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02-barres-horizontales/08-serie-unique-triee.png</a:t>
            </a:r>
            <a:endParaRPr lang="en-US" sz="800" dirty="0"/>
          </a:p>
        </p:txBody>
      </p:sp>
      <p:sp>
        <p:nvSpPr>
          <p:cNvPr id="16" name="Shape 11"/>
          <p:cNvSpPr/>
          <p:nvPr/>
        </p:nvSpPr>
        <p:spPr>
          <a:xfrm>
            <a:off x="4301642"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2-barres-horizontales/09-sans-etiquettes-axes.png">    </p:cNvPr>
          <p:cNvPicPr>
            <a:picLocks noChangeAspect="1"/>
          </p:cNvPicPr>
          <p:nvPr/>
        </p:nvPicPr>
        <p:blipFill>
          <a:blip r:embed="rId4"/>
          <a:stretch>
            <a:fillRect/>
          </a:stretch>
        </p:blipFill>
        <p:spPr>
          <a:xfrm>
            <a:off x="4576537" y="3895344"/>
            <a:ext cx="3038622" cy="1755648"/>
          </a:xfrm>
          <a:prstGeom prst="rect">
            <a:avLst/>
          </a:prstGeom>
        </p:spPr>
      </p:pic>
      <p:sp>
        <p:nvSpPr>
          <p:cNvPr id="18" name="Text 12"/>
          <p:cNvSpPr txBox="1"/>
          <p:nvPr/>
        </p:nvSpPr>
        <p:spPr>
          <a:xfrm>
            <a:off x="4429658"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Sans étiquettes de valeurs</a:t>
            </a:r>
            <a:endParaRPr lang="en-US" sz="1100" dirty="0"/>
          </a:p>
        </p:txBody>
      </p:sp>
      <p:sp>
        <p:nvSpPr>
          <p:cNvPr id="19" name="Text 13"/>
          <p:cNvSpPr txBox="1"/>
          <p:nvPr/>
        </p:nvSpPr>
        <p:spPr>
          <a:xfrm>
            <a:off x="4429658"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02-barres-horizontales/09-sans-etiquettes-axes.png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COURBE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Courbe — déclinaisons (1/3)</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Suivre une évolution dans le temps, en particulier sur beaucoup de points.</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3-courbe/01-defaut.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3-courbe/02-avec-valeurs.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Avec valeurs</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03-courbe/02-avec-valeurs.png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3-courbe/03-sans-legende.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Sans légende</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03-courbe/03-sans-legende.png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3-courbe/04-lissee.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Ligne lissée</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03-courbe/04-lissee.png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3-courbe/05-en-escalier.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En escalier</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03-courbe/05-en-escalier.png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COURBE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Courbe — déclinaisons (2/3)</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3-courbe/06-pointillee.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Pointillée</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03-courbe/06-pointillee.png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3-courbe/07-sans-points.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Sans points</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03-courbe/07-sans-points.png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3-courbe/08-ligne-epaisse.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Ligne épaisse</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03-courbe/08-ligne-epaisse.png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3-courbe/09-deux-axes-y.png">    </p:cNvPr>
          <p:cNvPicPr>
            <a:picLocks noChangeAspect="1"/>
          </p:cNvPicPr>
          <p:nvPr/>
        </p:nvPicPr>
        <p:blipFill>
          <a:blip r:embed="rId4"/>
          <a:stretch>
            <a:fillRect/>
          </a:stretch>
        </p:blipFill>
        <p:spPr>
          <a:xfrm>
            <a:off x="2654316" y="3895344"/>
            <a:ext cx="3038622" cy="1755648"/>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Deux axes Y</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03-courbe/09-deux-axes-y.png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3-courbe/10-serie-unique.png">    </p:cNvPr>
          <p:cNvPicPr>
            <a:picLocks noChangeAspect="1"/>
          </p:cNvPicPr>
          <p:nvPr/>
        </p:nvPicPr>
        <p:blipFill>
          <a:blip r:embed="rId5"/>
          <a:stretch>
            <a:fillRect/>
          </a:stretch>
        </p:blipFill>
        <p:spPr>
          <a:xfrm>
            <a:off x="6498758" y="3895344"/>
            <a:ext cx="3038622" cy="1755648"/>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10  </a:t>
            </a:r>
            <a:pPr indent="0" marL="0">
              <a:buNone/>
            </a:pPr>
            <a:r>
              <a:rPr lang="en-US" sz="1100" b="1" dirty="0">
                <a:solidFill>
                  <a:srgbClr val="232936"/>
                </a:solidFill>
                <a:latin typeface="Calibri" pitchFamily="34" charset="0"/>
                <a:ea typeface="Calibri" pitchFamily="34" charset="-122"/>
                <a:cs typeface="Calibri" pitchFamily="34" charset="-120"/>
              </a:rPr>
              <a:t>Série unique</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03-courbe/10-serie-unique.png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COURBE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Courbe — déclinaisons (3/3)</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3-courbe/11-avec-ligne-objectif.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11  </a:t>
            </a:r>
            <a:pPr indent="0" marL="0">
              <a:buNone/>
            </a:pPr>
            <a:r>
              <a:rPr lang="en-US" sz="1100" b="1" dirty="0">
                <a:solidFill>
                  <a:srgbClr val="232936"/>
                </a:solidFill>
                <a:latin typeface="Calibri" pitchFamily="34" charset="0"/>
                <a:ea typeface="Calibri" pitchFamily="34" charset="-122"/>
                <a:cs typeface="Calibri" pitchFamily="34" charset="-120"/>
              </a:rPr>
              <a:t>Ligne d'objectif</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03-courbe/11-avec-ligne-objectif.png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3-courbe/12-avec-courbe-tendance.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12  </a:t>
            </a:r>
            <a:pPr indent="0" marL="0">
              <a:buNone/>
            </a:pPr>
            <a:r>
              <a:rPr lang="en-US" sz="1100" b="1" dirty="0">
                <a:solidFill>
                  <a:srgbClr val="232936"/>
                </a:solidFill>
                <a:latin typeface="Calibri" pitchFamily="34" charset="0"/>
                <a:ea typeface="Calibri" pitchFamily="34" charset="-122"/>
                <a:cs typeface="Calibri" pitchFamily="34" charset="-120"/>
              </a:rPr>
              <a:t>Courbe de tendance</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03-courbe/12-avec-courbe-tendance.png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3-courbe/13-sans-etiquettes-axes.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13  </a:t>
            </a:r>
            <a:pPr indent="0" marL="0">
              <a:buNone/>
            </a:pPr>
            <a:r>
              <a:rPr lang="en-US" sz="1100" b="1" dirty="0">
                <a:solidFill>
                  <a:srgbClr val="232936"/>
                </a:solidFill>
                <a:latin typeface="Calibri" pitchFamily="34" charset="0"/>
                <a:ea typeface="Calibri" pitchFamily="34" charset="-122"/>
                <a:cs typeface="Calibri" pitchFamily="34" charset="-120"/>
              </a:rPr>
              <a:t>Sans étiquettes d'axes</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03-courbe/13-sans-etiquettes-axes.png</a:t>
            </a:r>
            <a:endParaRPr lang="en-US" sz="800" dirty="0"/>
          </a:p>
        </p:txBody>
      </p:sp>
      <p:sp>
        <p:nvSpPr>
          <p:cNvPr id="16" name="Shape 11"/>
          <p:cNvSpPr/>
          <p:nvPr/>
        </p:nvSpPr>
        <p:spPr>
          <a:xfrm>
            <a:off x="4301642"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3-courbe/14-valeurs-compactes.png">    </p:cNvPr>
          <p:cNvPicPr>
            <a:picLocks noChangeAspect="1"/>
          </p:cNvPicPr>
          <p:nvPr/>
        </p:nvPicPr>
        <p:blipFill>
          <a:blip r:embed="rId4"/>
          <a:stretch>
            <a:fillRect/>
          </a:stretch>
        </p:blipFill>
        <p:spPr>
          <a:xfrm>
            <a:off x="4576537" y="3895344"/>
            <a:ext cx="3038622" cy="1755648"/>
          </a:xfrm>
          <a:prstGeom prst="rect">
            <a:avLst/>
          </a:prstGeom>
        </p:spPr>
      </p:pic>
      <p:sp>
        <p:nvSpPr>
          <p:cNvPr id="18" name="Text 12"/>
          <p:cNvSpPr txBox="1"/>
          <p:nvPr/>
        </p:nvSpPr>
        <p:spPr>
          <a:xfrm>
            <a:off x="4429658"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14  </a:t>
            </a:r>
            <a:pPr indent="0" marL="0">
              <a:buNone/>
            </a:pPr>
            <a:r>
              <a:rPr lang="en-US" sz="1100" b="1" dirty="0">
                <a:solidFill>
                  <a:srgbClr val="232936"/>
                </a:solidFill>
                <a:latin typeface="Calibri" pitchFamily="34" charset="0"/>
                <a:ea typeface="Calibri" pitchFamily="34" charset="-122"/>
                <a:cs typeface="Calibri" pitchFamily="34" charset="-120"/>
              </a:rPr>
              <a:t>Valeurs compactes</a:t>
            </a:r>
            <a:endParaRPr lang="en-US" sz="1100" dirty="0"/>
          </a:p>
        </p:txBody>
      </p:sp>
      <p:sp>
        <p:nvSpPr>
          <p:cNvPr id="19" name="Text 13"/>
          <p:cNvSpPr txBox="1"/>
          <p:nvPr/>
        </p:nvSpPr>
        <p:spPr>
          <a:xfrm>
            <a:off x="4429658"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03-courbe/14-valeurs-compactes.png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AIRE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Aire — déclinaisons (1/2)</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Montrer une composition qui évolue : le total et la part de chacun, période après période.</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4-aire/01-defaut.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4-aire/02-empilee.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Empilée</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04-aire/02-empilee.png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4-aire/03-empilee-100.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Empilée 100 %</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04-aire/03-empilee-100.png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4-aire/04-empilee-avec-valeurs.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Empilée + valeurs</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04-aire/04-empilee-avec-valeurs.png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4-aire/05-empilee-100-avec-valeurs.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Empilée 100 % + valeurs</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04-aire/05-empilee-100-avec-valeurs.png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AIRE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Aire — déclinaisons (2/2)</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4-aire/06-sans-legende.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Sans légende</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04-aire/06-sans-legende.png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4-aire/07-lissee.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Lissée</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04-aire/07-lissee.png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4-aire/08-remplissage-opaque.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Remplissage opaque</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04-aire/08-remplissage-opaque.png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4-aire/09-remplissage-transparent.png">    </p:cNvPr>
          <p:cNvPicPr>
            <a:picLocks noChangeAspect="1"/>
          </p:cNvPicPr>
          <p:nvPr/>
        </p:nvPicPr>
        <p:blipFill>
          <a:blip r:embed="rId4"/>
          <a:stretch>
            <a:fillRect/>
          </a:stretch>
        </p:blipFill>
        <p:spPr>
          <a:xfrm>
            <a:off x="2654316" y="3895344"/>
            <a:ext cx="3038622" cy="1755648"/>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Remplissage transparent</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04-aire/09-remplissage-transparent.png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4-aire/10-axe-categoriel.png">    </p:cNvPr>
          <p:cNvPicPr>
            <a:picLocks noChangeAspect="1"/>
          </p:cNvPicPr>
          <p:nvPr/>
        </p:nvPicPr>
        <p:blipFill>
          <a:blip r:embed="rId5"/>
          <a:stretch>
            <a:fillRect/>
          </a:stretch>
        </p:blipFill>
        <p:spPr>
          <a:xfrm>
            <a:off x="6498758" y="3895344"/>
            <a:ext cx="3038622" cy="1755648"/>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10  </a:t>
            </a:r>
            <a:pPr indent="0" marL="0">
              <a:buNone/>
            </a:pPr>
            <a:r>
              <a:rPr lang="en-US" sz="1100" b="1" dirty="0">
                <a:solidFill>
                  <a:srgbClr val="232936"/>
                </a:solidFill>
                <a:latin typeface="Calibri" pitchFamily="34" charset="0"/>
                <a:ea typeface="Calibri" pitchFamily="34" charset="-122"/>
                <a:cs typeface="Calibri" pitchFamily="34" charset="-120"/>
              </a:rPr>
              <a:t>Axe catégoriel</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04-aire/10-axe-categoriel.png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COMBINÉ (BARRES + COURBE)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Combiné (barres + courbe) — déclinaisons (1/2)</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Croiser deux grandeurs d'échelles différentes : volume et taux, réalisé et objectif.</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5-combine/01-defaut.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5-combine/02-deux-axes-y.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Deux axes Y</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05-combine/02-deux-axes-y.png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5-combine/03-avec-valeurs.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Avec valeurs</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05-combine/03-avec-valeurs.png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5-combine/04-sans-legende.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Sans légende</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05-combine/04-sans-legende.png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5-combine/05-courbe-lissee.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Courbe lissée</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05-combine/05-courbe-lissee.png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COMBINÉ (BARRES + COURBE)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Combiné (barres + courbe) — déclinaisons (2/2)</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5-combine/06-inverse.png">    </p:cNvPr>
          <p:cNvPicPr>
            <a:picLocks noChangeAspect="1"/>
          </p:cNvPicPr>
          <p:nvPr/>
        </p:nvPicPr>
        <p:blipFill>
          <a:blip r:embed="rId1"/>
          <a:stretch>
            <a:fillRect/>
          </a:stretch>
        </p:blipFill>
        <p:spPr>
          <a:xfrm>
            <a:off x="732094" y="1371600"/>
            <a:ext cx="3038622"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Rôles inversés</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05-combine/06-inverse.png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5-combine/07-avec-objectif.png">    </p:cNvPr>
          <p:cNvPicPr>
            <a:picLocks noChangeAspect="1"/>
          </p:cNvPicPr>
          <p:nvPr/>
        </p:nvPicPr>
        <p:blipFill>
          <a:blip r:embed="rId2"/>
          <a:stretch>
            <a:fillRect/>
          </a:stretch>
        </p:blipFill>
        <p:spPr>
          <a:xfrm>
            <a:off x="4576537" y="1371600"/>
            <a:ext cx="3038622"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Ligne d'objectif</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05-combine/07-avec-objectif.png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5-combine/08-trois-mesures.png">    </p:cNvPr>
          <p:cNvPicPr>
            <a:picLocks noChangeAspect="1"/>
          </p:cNvPicPr>
          <p:nvPr/>
        </p:nvPicPr>
        <p:blipFill>
          <a:blip r:embed="rId3"/>
          <a:stretch>
            <a:fillRect/>
          </a:stretch>
        </p:blipFill>
        <p:spPr>
          <a:xfrm>
            <a:off x="8420979" y="1371600"/>
            <a:ext cx="3038622"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Trois mesures</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05-combine/08-trois-mesures.png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5-combine/09-barres-empilees-plus-courbe.png">    </p:cNvPr>
          <p:cNvPicPr>
            <a:picLocks noChangeAspect="1"/>
          </p:cNvPicPr>
          <p:nvPr/>
        </p:nvPicPr>
        <p:blipFill>
          <a:blip r:embed="rId4"/>
          <a:stretch>
            <a:fillRect/>
          </a:stretch>
        </p:blipFill>
        <p:spPr>
          <a:xfrm>
            <a:off x="2654316" y="3895344"/>
            <a:ext cx="3038622" cy="1755648"/>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Barres empilées + courbe</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05-combine/09-barres-empilees-plus-courbe.png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5-combine/10-aire-plus-barres.png">    </p:cNvPr>
          <p:cNvPicPr>
            <a:picLocks noChangeAspect="1"/>
          </p:cNvPicPr>
          <p:nvPr/>
        </p:nvPicPr>
        <p:blipFill>
          <a:blip r:embed="rId5"/>
          <a:stretch>
            <a:fillRect/>
          </a:stretch>
        </p:blipFill>
        <p:spPr>
          <a:xfrm>
            <a:off x="6498758" y="3895344"/>
            <a:ext cx="3038622" cy="1755648"/>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10  </a:t>
            </a:r>
            <a:pPr indent="0" marL="0">
              <a:buNone/>
            </a:pPr>
            <a:r>
              <a:rPr lang="en-US" sz="1100" b="1" dirty="0">
                <a:solidFill>
                  <a:srgbClr val="232936"/>
                </a:solidFill>
                <a:latin typeface="Calibri" pitchFamily="34" charset="0"/>
                <a:ea typeface="Calibri" pitchFamily="34" charset="-122"/>
                <a:cs typeface="Calibri" pitchFamily="34" charset="-120"/>
              </a:rPr>
              <a:t>Aire + barres</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05-combine/10-aire-plus-barres.png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CAMEMBERT</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Camembert — déclinaisons (1/3)</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Une répartition à un instant donné. À réserver aux répartitions de 2 à 6 parts.</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6-camembert/01-anneau-defaut.png">    </p:cNvPr>
          <p:cNvPicPr>
            <a:picLocks noChangeAspect="1"/>
          </p:cNvPicPr>
          <p:nvPr/>
        </p:nvPicPr>
        <p:blipFill>
          <a:blip r:embed="rId1"/>
          <a:stretch>
            <a:fillRect/>
          </a:stretch>
        </p:blipFill>
        <p:spPr>
          <a:xfrm>
            <a:off x="548640" y="1558680"/>
            <a:ext cx="3405530" cy="1381489"/>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Anneau (défaut)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06-camembert/01-anneau-defaut.png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6-camembert/02-camembert-plein.png">    </p:cNvPr>
          <p:cNvPicPr>
            <a:picLocks noChangeAspect="1"/>
          </p:cNvPicPr>
          <p:nvPr/>
        </p:nvPicPr>
        <p:blipFill>
          <a:blip r:embed="rId2"/>
          <a:stretch>
            <a:fillRect/>
          </a:stretch>
        </p:blipFill>
        <p:spPr>
          <a:xfrm>
            <a:off x="4393082" y="1558680"/>
            <a:ext cx="3405530" cy="1381489"/>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Camembert plein</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06-camembert/02-camembert-plein.png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6-camembert/03-pourcentages-sur-le-graphique.png">    </p:cNvPr>
          <p:cNvPicPr>
            <a:picLocks noChangeAspect="1"/>
          </p:cNvPicPr>
          <p:nvPr/>
        </p:nvPicPr>
        <p:blipFill>
          <a:blip r:embed="rId3"/>
          <a:stretch>
            <a:fillRect/>
          </a:stretch>
        </p:blipFill>
        <p:spPr>
          <a:xfrm>
            <a:off x="8237525" y="1558680"/>
            <a:ext cx="3405530" cy="1381489"/>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Pourcentages sur le graphique</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06-camembert/03-pourcentages-sur-le-graphique.png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6-camembert/04-etiquettes-nom-et-pourcentage.png">    </p:cNvPr>
          <p:cNvPicPr>
            <a:picLocks noChangeAspect="1"/>
          </p:cNvPicPr>
          <p:nvPr/>
        </p:nvPicPr>
        <p:blipFill>
          <a:blip r:embed="rId4"/>
          <a:stretch>
            <a:fillRect/>
          </a:stretch>
        </p:blipFill>
        <p:spPr>
          <a:xfrm>
            <a:off x="2470861" y="4082424"/>
            <a:ext cx="3405530" cy="1381489"/>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Nom + pourcentage</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06-camembert/04-etiquettes-nom-et-pourcentage.png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6-camembert/05-etiquettes-valeurs-absolues.png">    </p:cNvPr>
          <p:cNvPicPr>
            <a:picLocks noChangeAspect="1"/>
          </p:cNvPicPr>
          <p:nvPr/>
        </p:nvPicPr>
        <p:blipFill>
          <a:blip r:embed="rId5"/>
          <a:stretch>
            <a:fillRect/>
          </a:stretch>
        </p:blipFill>
        <p:spPr>
          <a:xfrm>
            <a:off x="6315304" y="4082424"/>
            <a:ext cx="3405530" cy="1381489"/>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Valeurs absolues</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06-camembert/05-etiquettes-valeurs-absolues.png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CAMEMBERT</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Camembert — déclinaisons (2/3)</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6-camembert/06-etiquettes-valeur-et-pourcentage.png">    </p:cNvPr>
          <p:cNvPicPr>
            <a:picLocks noChangeAspect="1"/>
          </p:cNvPicPr>
          <p:nvPr/>
        </p:nvPicPr>
        <p:blipFill>
          <a:blip r:embed="rId1"/>
          <a:stretch>
            <a:fillRect/>
          </a:stretch>
        </p:blipFill>
        <p:spPr>
          <a:xfrm>
            <a:off x="548640" y="1558680"/>
            <a:ext cx="3405530" cy="1381489"/>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Valeur + pourcentage</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06-camembert/06-etiquettes-valeur-et-pourcentage.png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6-camembert/07-pourcentages-dans-la-legende.png">    </p:cNvPr>
          <p:cNvPicPr>
            <a:picLocks noChangeAspect="1"/>
          </p:cNvPicPr>
          <p:nvPr/>
        </p:nvPicPr>
        <p:blipFill>
          <a:blip r:embed="rId2"/>
          <a:stretch>
            <a:fillRect/>
          </a:stretch>
        </p:blipFill>
        <p:spPr>
          <a:xfrm>
            <a:off x="4393082" y="1558680"/>
            <a:ext cx="3405530" cy="1381489"/>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Pourcentages dans la légende</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06-camembert/07-pourcentages-dans-la-legende.png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6-camembert/08-pourcentages-partout.png">    </p:cNvPr>
          <p:cNvPicPr>
            <a:picLocks noChangeAspect="1"/>
          </p:cNvPicPr>
          <p:nvPr/>
        </p:nvPicPr>
        <p:blipFill>
          <a:blip r:embed="rId3"/>
          <a:stretch>
            <a:fillRect/>
          </a:stretch>
        </p:blipFill>
        <p:spPr>
          <a:xfrm>
            <a:off x="8237525" y="1558680"/>
            <a:ext cx="3405530" cy="1381489"/>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Pourcentages partout</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06-camembert/08-pourcentages-partout.png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6-camembert/09-sans-etiquettes.png">    </p:cNvPr>
          <p:cNvPicPr>
            <a:picLocks noChangeAspect="1"/>
          </p:cNvPicPr>
          <p:nvPr/>
        </p:nvPicPr>
        <p:blipFill>
          <a:blip r:embed="rId4"/>
          <a:stretch>
            <a:fillRect/>
          </a:stretch>
        </p:blipFill>
        <p:spPr>
          <a:xfrm>
            <a:off x="2470861" y="4082424"/>
            <a:ext cx="3405530" cy="1381489"/>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Sans étiquettes</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06-camembert/09-sans-etiquettes.png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6-camembert/10-sans-legende.png">    </p:cNvPr>
          <p:cNvPicPr>
            <a:picLocks noChangeAspect="1"/>
          </p:cNvPicPr>
          <p:nvPr/>
        </p:nvPicPr>
        <p:blipFill>
          <a:blip r:embed="rId5"/>
          <a:stretch>
            <a:fillRect/>
          </a:stretch>
        </p:blipFill>
        <p:spPr>
          <a:xfrm>
            <a:off x="6315304" y="4082424"/>
            <a:ext cx="3405530" cy="1381489"/>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10  </a:t>
            </a:r>
            <a:pPr indent="0" marL="0">
              <a:buNone/>
            </a:pPr>
            <a:r>
              <a:rPr lang="en-US" sz="1100" b="1" dirty="0">
                <a:solidFill>
                  <a:srgbClr val="232936"/>
                </a:solidFill>
                <a:latin typeface="Calibri" pitchFamily="34" charset="0"/>
                <a:ea typeface="Calibri" pitchFamily="34" charset="-122"/>
                <a:cs typeface="Calibri" pitchFamily="34" charset="-120"/>
              </a:rPr>
              <a:t>Sans légende</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06-camembert/10-sans-legende.png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CAMEMBERT</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Camembert — déclinaisons (3/3)</a:t>
            </a:r>
            <a:endParaRPr lang="en-US" sz="2600" dirty="0"/>
          </a:p>
        </p:txBody>
      </p:sp>
      <p:sp>
        <p:nvSpPr>
          <p:cNvPr id="4" name="Shape 2"/>
          <p:cNvSpPr/>
          <p:nvPr/>
        </p:nvSpPr>
        <p:spPr>
          <a:xfrm>
            <a:off x="457200" y="2380601"/>
            <a:ext cx="3588410" cy="2645438"/>
          </a:xfrm>
          <a:prstGeom prst="roundRect">
            <a:avLst>
              <a:gd name="adj" fmla="val 1728"/>
            </a:avLst>
          </a:prstGeom>
          <a:solidFill>
            <a:srgbClr val="F5F7F9"/>
          </a:solidFill>
          <a:ln w="9525">
            <a:solidFill>
              <a:srgbClr val="DCE1E7"/>
            </a:solidFill>
            <a:prstDash val="solid"/>
          </a:ln>
        </p:spPr>
      </p:sp>
      <p:pic>
        <p:nvPicPr>
          <p:cNvPr id="5" name="Image 0" descr="/home/user/Rath/captures/06-camembert/11-sans-total-au-centre.png">    </p:cNvPr>
          <p:cNvPicPr>
            <a:picLocks noChangeAspect="1"/>
          </p:cNvPicPr>
          <p:nvPr/>
        </p:nvPicPr>
        <p:blipFill>
          <a:blip r:embed="rId1"/>
          <a:stretch>
            <a:fillRect/>
          </a:stretch>
        </p:blipFill>
        <p:spPr>
          <a:xfrm>
            <a:off x="548640" y="2820552"/>
            <a:ext cx="3405530" cy="1381489"/>
          </a:xfrm>
          <a:prstGeom prst="rect">
            <a:avLst/>
          </a:prstGeom>
        </p:spPr>
      </p:pic>
      <p:sp>
        <p:nvSpPr>
          <p:cNvPr id="6" name="Text 3"/>
          <p:cNvSpPr txBox="1"/>
          <p:nvPr/>
        </p:nvSpPr>
        <p:spPr>
          <a:xfrm>
            <a:off x="585216"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11  </a:t>
            </a:r>
            <a:pPr indent="0" marL="0">
              <a:buNone/>
            </a:pPr>
            <a:r>
              <a:rPr lang="en-US" sz="1100" b="1" dirty="0">
                <a:solidFill>
                  <a:srgbClr val="232936"/>
                </a:solidFill>
                <a:latin typeface="Calibri" pitchFamily="34" charset="0"/>
                <a:ea typeface="Calibri" pitchFamily="34" charset="-122"/>
                <a:cs typeface="Calibri" pitchFamily="34" charset="-120"/>
              </a:rPr>
              <a:t>Sans total au centre</a:t>
            </a:r>
            <a:endParaRPr lang="en-US" sz="1100" dirty="0"/>
          </a:p>
        </p:txBody>
      </p:sp>
      <p:sp>
        <p:nvSpPr>
          <p:cNvPr id="7" name="Text 4"/>
          <p:cNvSpPr txBox="1"/>
          <p:nvPr/>
        </p:nvSpPr>
        <p:spPr>
          <a:xfrm>
            <a:off x="585216"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06-camembert/11-sans-total-au-centre.png</a:t>
            </a:r>
            <a:endParaRPr lang="en-US" sz="800" dirty="0"/>
          </a:p>
        </p:txBody>
      </p:sp>
      <p:sp>
        <p:nvSpPr>
          <p:cNvPr id="8" name="Shape 5"/>
          <p:cNvSpPr/>
          <p:nvPr/>
        </p:nvSpPr>
        <p:spPr>
          <a:xfrm>
            <a:off x="4301642" y="2380601"/>
            <a:ext cx="3588410" cy="2645438"/>
          </a:xfrm>
          <a:prstGeom prst="roundRect">
            <a:avLst>
              <a:gd name="adj" fmla="val 1728"/>
            </a:avLst>
          </a:prstGeom>
          <a:solidFill>
            <a:srgbClr val="F5F7F9"/>
          </a:solidFill>
          <a:ln w="9525">
            <a:solidFill>
              <a:srgbClr val="DCE1E7"/>
            </a:solidFill>
            <a:prstDash val="solid"/>
          </a:ln>
        </p:spPr>
      </p:sp>
      <p:pic>
        <p:nvPicPr>
          <p:cNvPr id="9" name="Image 1" descr="/home/user/Rath/captures/06-camembert/12-deux-anneaux.png">    </p:cNvPr>
          <p:cNvPicPr>
            <a:picLocks noChangeAspect="1"/>
          </p:cNvPicPr>
          <p:nvPr/>
        </p:nvPicPr>
        <p:blipFill>
          <a:blip r:embed="rId2"/>
          <a:stretch>
            <a:fillRect/>
          </a:stretch>
        </p:blipFill>
        <p:spPr>
          <a:xfrm>
            <a:off x="4393082" y="2820552"/>
            <a:ext cx="3405530" cy="1381489"/>
          </a:xfrm>
          <a:prstGeom prst="rect">
            <a:avLst/>
          </a:prstGeom>
        </p:spPr>
      </p:pic>
      <p:sp>
        <p:nvSpPr>
          <p:cNvPr id="10" name="Text 6"/>
          <p:cNvSpPr txBox="1"/>
          <p:nvPr/>
        </p:nvSpPr>
        <p:spPr>
          <a:xfrm>
            <a:off x="4429658"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12  </a:t>
            </a:r>
            <a:pPr indent="0" marL="0">
              <a:buNone/>
            </a:pPr>
            <a:r>
              <a:rPr lang="en-US" sz="1100" b="1" dirty="0">
                <a:solidFill>
                  <a:srgbClr val="232936"/>
                </a:solidFill>
                <a:latin typeface="Calibri" pitchFamily="34" charset="0"/>
                <a:ea typeface="Calibri" pitchFamily="34" charset="-122"/>
                <a:cs typeface="Calibri" pitchFamily="34" charset="-120"/>
              </a:rPr>
              <a:t>Deux anneaux</a:t>
            </a:r>
            <a:endParaRPr lang="en-US" sz="1100" dirty="0"/>
          </a:p>
        </p:txBody>
      </p:sp>
      <p:sp>
        <p:nvSpPr>
          <p:cNvPr id="11" name="Text 7"/>
          <p:cNvSpPr txBox="1"/>
          <p:nvPr/>
        </p:nvSpPr>
        <p:spPr>
          <a:xfrm>
            <a:off x="4429658"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06-camembert/12-deux-anneaux.png</a:t>
            </a:r>
            <a:endParaRPr lang="en-US" sz="800" dirty="0"/>
          </a:p>
        </p:txBody>
      </p:sp>
      <p:sp>
        <p:nvSpPr>
          <p:cNvPr id="12" name="Shape 8"/>
          <p:cNvSpPr/>
          <p:nvPr/>
        </p:nvSpPr>
        <p:spPr>
          <a:xfrm>
            <a:off x="8146085" y="2380601"/>
            <a:ext cx="3588410" cy="2645438"/>
          </a:xfrm>
          <a:prstGeom prst="roundRect">
            <a:avLst>
              <a:gd name="adj" fmla="val 1728"/>
            </a:avLst>
          </a:prstGeom>
          <a:solidFill>
            <a:srgbClr val="F5F7F9"/>
          </a:solidFill>
          <a:ln w="9525">
            <a:solidFill>
              <a:srgbClr val="DCE1E7"/>
            </a:solidFill>
            <a:prstDash val="solid"/>
          </a:ln>
        </p:spPr>
      </p:sp>
      <p:pic>
        <p:nvPicPr>
          <p:cNvPr id="13" name="Image 2" descr="/home/user/Rath/captures/06-camembert/13-trie-par-valeur.png">    </p:cNvPr>
          <p:cNvPicPr>
            <a:picLocks noChangeAspect="1"/>
          </p:cNvPicPr>
          <p:nvPr/>
        </p:nvPicPr>
        <p:blipFill>
          <a:blip r:embed="rId3"/>
          <a:stretch>
            <a:fillRect/>
          </a:stretch>
        </p:blipFill>
        <p:spPr>
          <a:xfrm>
            <a:off x="8237525" y="2820552"/>
            <a:ext cx="3405530" cy="1381489"/>
          </a:xfrm>
          <a:prstGeom prst="rect">
            <a:avLst/>
          </a:prstGeom>
        </p:spPr>
      </p:pic>
      <p:sp>
        <p:nvSpPr>
          <p:cNvPr id="14" name="Text 9"/>
          <p:cNvSpPr txBox="1"/>
          <p:nvPr/>
        </p:nvSpPr>
        <p:spPr>
          <a:xfrm>
            <a:off x="8274101"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13  </a:t>
            </a:r>
            <a:pPr indent="0" marL="0">
              <a:buNone/>
            </a:pPr>
            <a:r>
              <a:rPr lang="en-US" sz="1100" b="1" dirty="0">
                <a:solidFill>
                  <a:srgbClr val="232936"/>
                </a:solidFill>
                <a:latin typeface="Calibri" pitchFamily="34" charset="0"/>
                <a:ea typeface="Calibri" pitchFamily="34" charset="-122"/>
                <a:cs typeface="Calibri" pitchFamily="34" charset="-120"/>
              </a:rPr>
              <a:t>Trié par valeur</a:t>
            </a:r>
            <a:endParaRPr lang="en-US" sz="1100" dirty="0"/>
          </a:p>
        </p:txBody>
      </p:sp>
      <p:sp>
        <p:nvSpPr>
          <p:cNvPr id="15" name="Text 10"/>
          <p:cNvSpPr txBox="1"/>
          <p:nvPr/>
        </p:nvSpPr>
        <p:spPr>
          <a:xfrm>
            <a:off x="8274101"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06-camembert/13-trie-par-valeur.png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NOMBRE (CHIFFRE CLÉ)</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Nombre (chiffre clé) — déclinaisons (1/2)</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Le chiffre clé, seul. C'est ce qu'on lit en premier, en haut du tableau de bord.</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7-nombre/01-defaut.png">    </p:cNvPr>
          <p:cNvPicPr>
            <a:picLocks noChangeAspect="1"/>
          </p:cNvPicPr>
          <p:nvPr/>
        </p:nvPicPr>
        <p:blipFill>
          <a:blip r:embed="rId1"/>
          <a:stretch>
            <a:fillRect/>
          </a:stretch>
        </p:blipFill>
        <p:spPr>
          <a:xfrm>
            <a:off x="739597" y="1371600"/>
            <a:ext cx="3023616"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7-nombre/02-format-devise.png">    </p:cNvPr>
          <p:cNvPicPr>
            <a:picLocks noChangeAspect="1"/>
          </p:cNvPicPr>
          <p:nvPr/>
        </p:nvPicPr>
        <p:blipFill>
          <a:blip r:embed="rId2"/>
          <a:stretch>
            <a:fillRect/>
          </a:stretch>
        </p:blipFill>
        <p:spPr>
          <a:xfrm>
            <a:off x="4584040" y="1371600"/>
            <a:ext cx="3023616"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Devise</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07-nombre/02-format-devise.png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7-nombre/03-devise-en-code.png">    </p:cNvPr>
          <p:cNvPicPr>
            <a:picLocks noChangeAspect="1"/>
          </p:cNvPicPr>
          <p:nvPr/>
        </p:nvPicPr>
        <p:blipFill>
          <a:blip r:embed="rId3"/>
          <a:stretch>
            <a:fillRect/>
          </a:stretch>
        </p:blipFill>
        <p:spPr>
          <a:xfrm>
            <a:off x="8428482" y="1371600"/>
            <a:ext cx="3023616"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Devise en code</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07-nombre/03-devise-en-code.png</a:t>
            </a:r>
            <a:endParaRPr lang="en-US" sz="800" dirty="0"/>
          </a:p>
        </p:txBody>
      </p:sp>
      <p:sp>
        <p:nvSpPr>
          <p:cNvPr id="17" name="Shape 12"/>
          <p:cNvSpPr/>
          <p:nvPr/>
        </p:nvSpPr>
        <p:spPr>
          <a:xfrm>
            <a:off x="457200"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7-nombre/04-pourcentage.png">    </p:cNvPr>
          <p:cNvPicPr>
            <a:picLocks noChangeAspect="1"/>
          </p:cNvPicPr>
          <p:nvPr/>
        </p:nvPicPr>
        <p:blipFill>
          <a:blip r:embed="rId4"/>
          <a:stretch>
            <a:fillRect/>
          </a:stretch>
        </p:blipFill>
        <p:spPr>
          <a:xfrm>
            <a:off x="739597" y="3895344"/>
            <a:ext cx="3023616" cy="1755648"/>
          </a:xfrm>
          <a:prstGeom prst="rect">
            <a:avLst/>
          </a:prstGeom>
        </p:spPr>
      </p:pic>
      <p:sp>
        <p:nvSpPr>
          <p:cNvPr id="19" name="Text 13"/>
          <p:cNvSpPr txBox="1"/>
          <p:nvPr/>
        </p:nvSpPr>
        <p:spPr>
          <a:xfrm>
            <a:off x="585216"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Pourcentage</a:t>
            </a:r>
            <a:endParaRPr lang="en-US" sz="1100" dirty="0"/>
          </a:p>
        </p:txBody>
      </p:sp>
      <p:sp>
        <p:nvSpPr>
          <p:cNvPr id="20" name="Text 14"/>
          <p:cNvSpPr txBox="1"/>
          <p:nvPr/>
        </p:nvSpPr>
        <p:spPr>
          <a:xfrm>
            <a:off x="585216"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07-nombre/04-pourcentage.png</a:t>
            </a:r>
            <a:endParaRPr lang="en-US" sz="800" dirty="0"/>
          </a:p>
        </p:txBody>
      </p:sp>
      <p:sp>
        <p:nvSpPr>
          <p:cNvPr id="21" name="Shape 15"/>
          <p:cNvSpPr/>
          <p:nvPr/>
        </p:nvSpPr>
        <p:spPr>
          <a:xfrm>
            <a:off x="4301642"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7-nombre/05-deux-decimales.png">    </p:cNvPr>
          <p:cNvPicPr>
            <a:picLocks noChangeAspect="1"/>
          </p:cNvPicPr>
          <p:nvPr/>
        </p:nvPicPr>
        <p:blipFill>
          <a:blip r:embed="rId5"/>
          <a:stretch>
            <a:fillRect/>
          </a:stretch>
        </p:blipFill>
        <p:spPr>
          <a:xfrm>
            <a:off x="4584040" y="3895344"/>
            <a:ext cx="3023616" cy="1755648"/>
          </a:xfrm>
          <a:prstGeom prst="rect">
            <a:avLst/>
          </a:prstGeom>
        </p:spPr>
      </p:pic>
      <p:sp>
        <p:nvSpPr>
          <p:cNvPr id="23" name="Text 16"/>
          <p:cNvSpPr txBox="1"/>
          <p:nvPr/>
        </p:nvSpPr>
        <p:spPr>
          <a:xfrm>
            <a:off x="4429658"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Deux décimales</a:t>
            </a:r>
            <a:endParaRPr lang="en-US" sz="1100" dirty="0"/>
          </a:p>
        </p:txBody>
      </p:sp>
      <p:sp>
        <p:nvSpPr>
          <p:cNvPr id="24" name="Text 17"/>
          <p:cNvSpPr txBox="1"/>
          <p:nvPr/>
        </p:nvSpPr>
        <p:spPr>
          <a:xfrm>
            <a:off x="4429658"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07-nombre/05-deux-decimales.png</a:t>
            </a:r>
            <a:endParaRPr lang="en-US" sz="800" dirty="0"/>
          </a:p>
        </p:txBody>
      </p:sp>
      <p:sp>
        <p:nvSpPr>
          <p:cNvPr id="25" name="Shape 18"/>
          <p:cNvSpPr/>
          <p:nvPr/>
        </p:nvSpPr>
        <p:spPr>
          <a:xfrm>
            <a:off x="8146085" y="3803904"/>
            <a:ext cx="3588410" cy="2322576"/>
          </a:xfrm>
          <a:prstGeom prst="roundRect">
            <a:avLst>
              <a:gd name="adj" fmla="val 1969"/>
            </a:avLst>
          </a:prstGeom>
          <a:solidFill>
            <a:srgbClr val="F5F7F9"/>
          </a:solidFill>
          <a:ln w="9525">
            <a:solidFill>
              <a:srgbClr val="DCE1E7"/>
            </a:solidFill>
            <a:prstDash val="solid"/>
          </a:ln>
        </p:spPr>
      </p:sp>
      <p:pic>
        <p:nvPicPr>
          <p:cNvPr id="26" name="Image 5" descr="/home/user/Rath/captures/07-nombre/06-prefixe-suffixe.png">    </p:cNvPr>
          <p:cNvPicPr>
            <a:picLocks noChangeAspect="1"/>
          </p:cNvPicPr>
          <p:nvPr/>
        </p:nvPicPr>
        <p:blipFill>
          <a:blip r:embed="rId6"/>
          <a:stretch>
            <a:fillRect/>
          </a:stretch>
        </p:blipFill>
        <p:spPr>
          <a:xfrm>
            <a:off x="8428482" y="3895344"/>
            <a:ext cx="3023616" cy="1755648"/>
          </a:xfrm>
          <a:prstGeom prst="rect">
            <a:avLst/>
          </a:prstGeom>
        </p:spPr>
      </p:pic>
      <p:sp>
        <p:nvSpPr>
          <p:cNvPr id="27" name="Text 19"/>
          <p:cNvSpPr txBox="1"/>
          <p:nvPr/>
        </p:nvSpPr>
        <p:spPr>
          <a:xfrm>
            <a:off x="8274101"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Préfixe / suffixe</a:t>
            </a:r>
            <a:endParaRPr lang="en-US" sz="1100" dirty="0"/>
          </a:p>
        </p:txBody>
      </p:sp>
      <p:sp>
        <p:nvSpPr>
          <p:cNvPr id="28" name="Text 20"/>
          <p:cNvSpPr txBox="1"/>
          <p:nvPr/>
        </p:nvSpPr>
        <p:spPr>
          <a:xfrm>
            <a:off x="8274101"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07-nombre/06-prefixe-suffixe.png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NOMBRE (CHIFFRE CLÉ)</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Nombre (chiffre clé) — déclinaisons (2/2)</a:t>
            </a:r>
            <a:endParaRPr lang="en-US" sz="2600" dirty="0"/>
          </a:p>
        </p:txBody>
      </p:sp>
      <p:sp>
        <p:nvSpPr>
          <p:cNvPr id="4" name="Shape 2"/>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5" name="Image 0" descr="/home/user/Rath/captures/07-nombre/07-multiplie-par.png">    </p:cNvPr>
          <p:cNvPicPr>
            <a:picLocks noChangeAspect="1"/>
          </p:cNvPicPr>
          <p:nvPr/>
        </p:nvPicPr>
        <p:blipFill>
          <a:blip r:embed="rId1"/>
          <a:stretch>
            <a:fillRect/>
          </a:stretch>
        </p:blipFill>
        <p:spPr>
          <a:xfrm>
            <a:off x="739597" y="1371600"/>
            <a:ext cx="3023616" cy="1755648"/>
          </a:xfrm>
          <a:prstGeom prst="rect">
            <a:avLst/>
          </a:prstGeom>
        </p:spPr>
      </p:pic>
      <p:sp>
        <p:nvSpPr>
          <p:cNvPr id="6" name="Text 3"/>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Multiplié par</a:t>
            </a:r>
            <a:endParaRPr lang="en-US" sz="1100" dirty="0"/>
          </a:p>
        </p:txBody>
      </p:sp>
      <p:sp>
        <p:nvSpPr>
          <p:cNvPr id="7" name="Text 4"/>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07-nombre/07-multiplie-par.png</a:t>
            </a:r>
            <a:endParaRPr lang="en-US" sz="800" dirty="0"/>
          </a:p>
        </p:txBody>
      </p:sp>
      <p:sp>
        <p:nvSpPr>
          <p:cNvPr id="8" name="Shape 5"/>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9" name="Image 1" descr="/home/user/Rath/captures/07-nombre/08-separateur-anglo-saxon.png">    </p:cNvPr>
          <p:cNvPicPr>
            <a:picLocks noChangeAspect="1"/>
          </p:cNvPicPr>
          <p:nvPr/>
        </p:nvPicPr>
        <p:blipFill>
          <a:blip r:embed="rId2"/>
          <a:stretch>
            <a:fillRect/>
          </a:stretch>
        </p:blipFill>
        <p:spPr>
          <a:xfrm>
            <a:off x="4584040" y="1371600"/>
            <a:ext cx="3023616" cy="1755648"/>
          </a:xfrm>
          <a:prstGeom prst="rect">
            <a:avLst/>
          </a:prstGeom>
        </p:spPr>
      </p:pic>
      <p:sp>
        <p:nvSpPr>
          <p:cNvPr id="10" name="Text 6"/>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08  </a:t>
            </a:r>
            <a:pPr indent="0" marL="0">
              <a:buNone/>
            </a:pPr>
            <a:r>
              <a:rPr lang="en-US" sz="1100" b="1" dirty="0">
                <a:solidFill>
                  <a:srgbClr val="232936"/>
                </a:solidFill>
                <a:latin typeface="Calibri" pitchFamily="34" charset="0"/>
                <a:ea typeface="Calibri" pitchFamily="34" charset="-122"/>
                <a:cs typeface="Calibri" pitchFamily="34" charset="-120"/>
              </a:rPr>
              <a:t>Séparateur anglo-saxon</a:t>
            </a:r>
            <a:endParaRPr lang="en-US" sz="1100" dirty="0"/>
          </a:p>
        </p:txBody>
      </p:sp>
      <p:sp>
        <p:nvSpPr>
          <p:cNvPr id="11" name="Text 7"/>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07-nombre/08-separateur-anglo-saxon.png</a:t>
            </a:r>
            <a:endParaRPr lang="en-US" sz="800" dirty="0"/>
          </a:p>
        </p:txBody>
      </p:sp>
      <p:sp>
        <p:nvSpPr>
          <p:cNvPr id="12" name="Shape 8"/>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3" name="Image 2" descr="/home/user/Rath/captures/07-nombre/09-notation-scientifique.png">    </p:cNvPr>
          <p:cNvPicPr>
            <a:picLocks noChangeAspect="1"/>
          </p:cNvPicPr>
          <p:nvPr/>
        </p:nvPicPr>
        <p:blipFill>
          <a:blip r:embed="rId3"/>
          <a:stretch>
            <a:fillRect/>
          </a:stretch>
        </p:blipFill>
        <p:spPr>
          <a:xfrm>
            <a:off x="8428482" y="1371600"/>
            <a:ext cx="3023616" cy="1755648"/>
          </a:xfrm>
          <a:prstGeom prst="rect">
            <a:avLst/>
          </a:prstGeom>
        </p:spPr>
      </p:pic>
      <p:sp>
        <p:nvSpPr>
          <p:cNvPr id="14" name="Text 9"/>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09  </a:t>
            </a:r>
            <a:pPr indent="0" marL="0">
              <a:buNone/>
            </a:pPr>
            <a:r>
              <a:rPr lang="en-US" sz="1100" b="1" dirty="0">
                <a:solidFill>
                  <a:srgbClr val="232936"/>
                </a:solidFill>
                <a:latin typeface="Calibri" pitchFamily="34" charset="0"/>
                <a:ea typeface="Calibri" pitchFamily="34" charset="-122"/>
                <a:cs typeface="Calibri" pitchFamily="34" charset="-120"/>
              </a:rPr>
              <a:t>Notation scientifique</a:t>
            </a:r>
            <a:endParaRPr lang="en-US" sz="1100" dirty="0"/>
          </a:p>
        </p:txBody>
      </p:sp>
      <p:sp>
        <p:nvSpPr>
          <p:cNvPr id="15" name="Text 10"/>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07-nombre/09-notation-scientifique.png</a:t>
            </a:r>
            <a:endParaRPr lang="en-US" sz="800" dirty="0"/>
          </a:p>
        </p:txBody>
      </p:sp>
      <p:sp>
        <p:nvSpPr>
          <p:cNvPr id="16" name="Shape 11"/>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7" name="Image 3" descr="/home/user/Rath/captures/07-nombre/10-couleur-conditionnelle.png">    </p:cNvPr>
          <p:cNvPicPr>
            <a:picLocks noChangeAspect="1"/>
          </p:cNvPicPr>
          <p:nvPr/>
        </p:nvPicPr>
        <p:blipFill>
          <a:blip r:embed="rId4"/>
          <a:stretch>
            <a:fillRect/>
          </a:stretch>
        </p:blipFill>
        <p:spPr>
          <a:xfrm>
            <a:off x="2661818" y="3895344"/>
            <a:ext cx="3023616" cy="1755648"/>
          </a:xfrm>
          <a:prstGeom prst="rect">
            <a:avLst/>
          </a:prstGeom>
        </p:spPr>
      </p:pic>
      <p:sp>
        <p:nvSpPr>
          <p:cNvPr id="18" name="Text 12"/>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10  </a:t>
            </a:r>
            <a:pPr indent="0" marL="0">
              <a:buNone/>
            </a:pPr>
            <a:r>
              <a:rPr lang="en-US" sz="1100" b="1" dirty="0">
                <a:solidFill>
                  <a:srgbClr val="232936"/>
                </a:solidFill>
                <a:latin typeface="Calibri" pitchFamily="34" charset="0"/>
                <a:ea typeface="Calibri" pitchFamily="34" charset="-122"/>
                <a:cs typeface="Calibri" pitchFamily="34" charset="-120"/>
              </a:rPr>
              <a:t>Couleur conditionnelle</a:t>
            </a:r>
            <a:endParaRPr lang="en-US" sz="1100" dirty="0"/>
          </a:p>
        </p:txBody>
      </p:sp>
      <p:sp>
        <p:nvSpPr>
          <p:cNvPr id="19" name="Text 13"/>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07-nombre/10-couleur-conditionnelle.png</a:t>
            </a:r>
            <a:endParaRPr lang="en-US" sz="800" dirty="0"/>
          </a:p>
        </p:txBody>
      </p:sp>
      <p:sp>
        <p:nvSpPr>
          <p:cNvPr id="20" name="Shape 14"/>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1" name="Image 4" descr="/home/user/Rath/captures/07-nombre/11-couleur-conditionnelle-alerte.png">    </p:cNvPr>
          <p:cNvPicPr>
            <a:picLocks noChangeAspect="1"/>
          </p:cNvPicPr>
          <p:nvPr/>
        </p:nvPicPr>
        <p:blipFill>
          <a:blip r:embed="rId5"/>
          <a:stretch>
            <a:fillRect/>
          </a:stretch>
        </p:blipFill>
        <p:spPr>
          <a:xfrm>
            <a:off x="6506261" y="3895344"/>
            <a:ext cx="3023616" cy="1755648"/>
          </a:xfrm>
          <a:prstGeom prst="rect">
            <a:avLst/>
          </a:prstGeom>
        </p:spPr>
      </p:pic>
      <p:sp>
        <p:nvSpPr>
          <p:cNvPr id="22" name="Text 15"/>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11  </a:t>
            </a:r>
            <a:pPr indent="0" marL="0">
              <a:buNone/>
            </a:pPr>
            <a:r>
              <a:rPr lang="en-US" sz="1100" b="1" dirty="0">
                <a:solidFill>
                  <a:srgbClr val="232936"/>
                </a:solidFill>
                <a:latin typeface="Calibri" pitchFamily="34" charset="0"/>
                <a:ea typeface="Calibri" pitchFamily="34" charset="-122"/>
                <a:cs typeface="Calibri" pitchFamily="34" charset="-120"/>
              </a:rPr>
              <a:t>Couleur conditionnelle (alerte)</a:t>
            </a:r>
            <a:endParaRPr lang="en-US" sz="1100" dirty="0"/>
          </a:p>
        </p:txBody>
      </p:sp>
      <p:sp>
        <p:nvSpPr>
          <p:cNvPr id="23" name="Text 16"/>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07-nombre/11-couleur-conditionnelle-alerte.png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TENDANCE (SMART SCALAR)</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Tendance (smart scalar) — déclinaisons (1/2)</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Le chiffre clé et son évolution : où on en est, et dans quel sens ça va.</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8-tendance/01-defaut.png">    </p:cNvPr>
          <p:cNvPicPr>
            <a:picLocks noChangeAspect="1"/>
          </p:cNvPicPr>
          <p:nvPr/>
        </p:nvPicPr>
        <p:blipFill>
          <a:blip r:embed="rId1"/>
          <a:stretch>
            <a:fillRect/>
          </a:stretch>
        </p:blipFill>
        <p:spPr>
          <a:xfrm>
            <a:off x="739597" y="1371600"/>
            <a:ext cx="3023616"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8-tendance/02-vs-premiere-valeur.png">    </p:cNvPr>
          <p:cNvPicPr>
            <a:picLocks noChangeAspect="1"/>
          </p:cNvPicPr>
          <p:nvPr/>
        </p:nvPicPr>
        <p:blipFill>
          <a:blip r:embed="rId2"/>
          <a:stretch>
            <a:fillRect/>
          </a:stretch>
        </p:blipFill>
        <p:spPr>
          <a:xfrm>
            <a:off x="4584040" y="1371600"/>
            <a:ext cx="3023616"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vs première valeur</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08-tendance/02-vs-premiere-valeur.png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8-tendance/03-vs-moyenne.png">    </p:cNvPr>
          <p:cNvPicPr>
            <a:picLocks noChangeAspect="1"/>
          </p:cNvPicPr>
          <p:nvPr/>
        </p:nvPicPr>
        <p:blipFill>
          <a:blip r:embed="rId3"/>
          <a:stretch>
            <a:fillRect/>
          </a:stretch>
        </p:blipFill>
        <p:spPr>
          <a:xfrm>
            <a:off x="8428482" y="1371600"/>
            <a:ext cx="3023616"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vs moyenne</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08-tendance/03-vs-moyenne.png</a:t>
            </a:r>
            <a:endParaRPr lang="en-US" sz="800" dirty="0"/>
          </a:p>
        </p:txBody>
      </p:sp>
      <p:sp>
        <p:nvSpPr>
          <p:cNvPr id="17" name="Shape 12"/>
          <p:cNvSpPr/>
          <p:nvPr/>
        </p:nvSpPr>
        <p:spPr>
          <a:xfrm>
            <a:off x="4301642"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8-tendance/04-trois-comparaisons.png">    </p:cNvPr>
          <p:cNvPicPr>
            <a:picLocks noChangeAspect="1"/>
          </p:cNvPicPr>
          <p:nvPr/>
        </p:nvPicPr>
        <p:blipFill>
          <a:blip r:embed="rId4"/>
          <a:stretch>
            <a:fillRect/>
          </a:stretch>
        </p:blipFill>
        <p:spPr>
          <a:xfrm>
            <a:off x="4584040" y="3895344"/>
            <a:ext cx="3023616" cy="1755648"/>
          </a:xfrm>
          <a:prstGeom prst="rect">
            <a:avLst/>
          </a:prstGeom>
        </p:spPr>
      </p:pic>
      <p:sp>
        <p:nvSpPr>
          <p:cNvPr id="19" name="Text 13"/>
          <p:cNvSpPr txBox="1"/>
          <p:nvPr/>
        </p:nvSpPr>
        <p:spPr>
          <a:xfrm>
            <a:off x="4429658"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Trois comparaisons</a:t>
            </a:r>
            <a:endParaRPr lang="en-US" sz="1100" dirty="0"/>
          </a:p>
        </p:txBody>
      </p:sp>
      <p:sp>
        <p:nvSpPr>
          <p:cNvPr id="20" name="Text 14"/>
          <p:cNvSpPr txBox="1"/>
          <p:nvPr/>
        </p:nvSpPr>
        <p:spPr>
          <a:xfrm>
            <a:off x="4429658"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08-tendance/04-trois-comparaisons.png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TENDANCE (SMART SCALAR)</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Tendance (smart scalar) — déclinaisons (2/2)</a:t>
            </a:r>
            <a:endParaRPr lang="en-US" sz="2600" dirty="0"/>
          </a:p>
        </p:txBody>
      </p:sp>
      <p:sp>
        <p:nvSpPr>
          <p:cNvPr id="4" name="Shape 2"/>
          <p:cNvSpPr/>
          <p:nvPr/>
        </p:nvSpPr>
        <p:spPr>
          <a:xfrm>
            <a:off x="457200" y="2380601"/>
            <a:ext cx="3588410" cy="2645438"/>
          </a:xfrm>
          <a:prstGeom prst="roundRect">
            <a:avLst>
              <a:gd name="adj" fmla="val 1728"/>
            </a:avLst>
          </a:prstGeom>
          <a:solidFill>
            <a:srgbClr val="F5F7F9"/>
          </a:solidFill>
          <a:ln w="9525">
            <a:solidFill>
              <a:srgbClr val="DCE1E7"/>
            </a:solidFill>
            <a:prstDash val="solid"/>
          </a:ln>
        </p:spPr>
      </p:sp>
      <p:pic>
        <p:nvPicPr>
          <p:cNvPr id="5" name="Image 0" descr="/home/user/Rath/captures/08-tendance/05-avec-valeur-de-comparaison.png">    </p:cNvPr>
          <p:cNvPicPr>
            <a:picLocks noChangeAspect="1"/>
          </p:cNvPicPr>
          <p:nvPr/>
        </p:nvPicPr>
        <p:blipFill>
          <a:blip r:embed="rId1"/>
          <a:stretch>
            <a:fillRect/>
          </a:stretch>
        </p:blipFill>
        <p:spPr>
          <a:xfrm>
            <a:off x="548640" y="2522594"/>
            <a:ext cx="3405530" cy="1977405"/>
          </a:xfrm>
          <a:prstGeom prst="rect">
            <a:avLst/>
          </a:prstGeom>
        </p:spPr>
      </p:pic>
      <p:sp>
        <p:nvSpPr>
          <p:cNvPr id="6" name="Text 3"/>
          <p:cNvSpPr txBox="1"/>
          <p:nvPr/>
        </p:nvSpPr>
        <p:spPr>
          <a:xfrm>
            <a:off x="585216"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Avec valeur de référence</a:t>
            </a:r>
            <a:endParaRPr lang="en-US" sz="1100" dirty="0"/>
          </a:p>
        </p:txBody>
      </p:sp>
      <p:sp>
        <p:nvSpPr>
          <p:cNvPr id="7" name="Text 4"/>
          <p:cNvSpPr txBox="1"/>
          <p:nvPr/>
        </p:nvSpPr>
        <p:spPr>
          <a:xfrm>
            <a:off x="585216"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08-tendance/05-avec-valeur-de-comparaison.png</a:t>
            </a:r>
            <a:endParaRPr lang="en-US" sz="800" dirty="0"/>
          </a:p>
        </p:txBody>
      </p:sp>
      <p:sp>
        <p:nvSpPr>
          <p:cNvPr id="8" name="Shape 5"/>
          <p:cNvSpPr/>
          <p:nvPr/>
        </p:nvSpPr>
        <p:spPr>
          <a:xfrm>
            <a:off x="4301642" y="2380601"/>
            <a:ext cx="3588410" cy="2645438"/>
          </a:xfrm>
          <a:prstGeom prst="roundRect">
            <a:avLst>
              <a:gd name="adj" fmla="val 1728"/>
            </a:avLst>
          </a:prstGeom>
          <a:solidFill>
            <a:srgbClr val="F5F7F9"/>
          </a:solidFill>
          <a:ln w="9525">
            <a:solidFill>
              <a:srgbClr val="DCE1E7"/>
            </a:solidFill>
            <a:prstDash val="solid"/>
          </a:ln>
        </p:spPr>
      </p:sp>
      <p:pic>
        <p:nvPicPr>
          <p:cNvPr id="9" name="Image 1" descr="/home/user/Rath/captures/08-tendance/06-tendance-a-la-baisse.png">    </p:cNvPr>
          <p:cNvPicPr>
            <a:picLocks noChangeAspect="1"/>
          </p:cNvPicPr>
          <p:nvPr/>
        </p:nvPicPr>
        <p:blipFill>
          <a:blip r:embed="rId2"/>
          <a:stretch>
            <a:fillRect/>
          </a:stretch>
        </p:blipFill>
        <p:spPr>
          <a:xfrm>
            <a:off x="4393082" y="2522594"/>
            <a:ext cx="3405530" cy="1977405"/>
          </a:xfrm>
          <a:prstGeom prst="rect">
            <a:avLst/>
          </a:prstGeom>
        </p:spPr>
      </p:pic>
      <p:sp>
        <p:nvSpPr>
          <p:cNvPr id="10" name="Text 6"/>
          <p:cNvSpPr txBox="1"/>
          <p:nvPr/>
        </p:nvSpPr>
        <p:spPr>
          <a:xfrm>
            <a:off x="4429658"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06  </a:t>
            </a:r>
            <a:pPr indent="0" marL="0">
              <a:buNone/>
            </a:pPr>
            <a:r>
              <a:rPr lang="en-US" sz="1100" b="1" dirty="0">
                <a:solidFill>
                  <a:srgbClr val="232936"/>
                </a:solidFill>
                <a:latin typeface="Calibri" pitchFamily="34" charset="0"/>
                <a:ea typeface="Calibri" pitchFamily="34" charset="-122"/>
                <a:cs typeface="Calibri" pitchFamily="34" charset="-120"/>
              </a:rPr>
              <a:t>Tendance à la baisse</a:t>
            </a:r>
            <a:endParaRPr lang="en-US" sz="1100" dirty="0"/>
          </a:p>
        </p:txBody>
      </p:sp>
      <p:sp>
        <p:nvSpPr>
          <p:cNvPr id="11" name="Text 7"/>
          <p:cNvSpPr txBox="1"/>
          <p:nvPr/>
        </p:nvSpPr>
        <p:spPr>
          <a:xfrm>
            <a:off x="4429658"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08-tendance/06-tendance-a-la-baisse.png</a:t>
            </a:r>
            <a:endParaRPr lang="en-US" sz="800" dirty="0"/>
          </a:p>
        </p:txBody>
      </p:sp>
      <p:sp>
        <p:nvSpPr>
          <p:cNvPr id="12" name="Shape 8"/>
          <p:cNvSpPr/>
          <p:nvPr/>
        </p:nvSpPr>
        <p:spPr>
          <a:xfrm>
            <a:off x="8146085" y="2380601"/>
            <a:ext cx="3588410" cy="2645438"/>
          </a:xfrm>
          <a:prstGeom prst="roundRect">
            <a:avLst>
              <a:gd name="adj" fmla="val 1728"/>
            </a:avLst>
          </a:prstGeom>
          <a:solidFill>
            <a:srgbClr val="F5F7F9"/>
          </a:solidFill>
          <a:ln w="9525">
            <a:solidFill>
              <a:srgbClr val="DCE1E7"/>
            </a:solidFill>
            <a:prstDash val="solid"/>
          </a:ln>
        </p:spPr>
      </p:sp>
      <p:pic>
        <p:nvPicPr>
          <p:cNvPr id="13" name="Image 2" descr="/home/user/Rath/captures/08-tendance/07-format-devise.png">    </p:cNvPr>
          <p:cNvPicPr>
            <a:picLocks noChangeAspect="1"/>
          </p:cNvPicPr>
          <p:nvPr/>
        </p:nvPicPr>
        <p:blipFill>
          <a:blip r:embed="rId3"/>
          <a:stretch>
            <a:fillRect/>
          </a:stretch>
        </p:blipFill>
        <p:spPr>
          <a:xfrm>
            <a:off x="8237525" y="2522594"/>
            <a:ext cx="3405530" cy="1977405"/>
          </a:xfrm>
          <a:prstGeom prst="rect">
            <a:avLst/>
          </a:prstGeom>
        </p:spPr>
      </p:pic>
      <p:sp>
        <p:nvSpPr>
          <p:cNvPr id="14" name="Text 9"/>
          <p:cNvSpPr txBox="1"/>
          <p:nvPr/>
        </p:nvSpPr>
        <p:spPr>
          <a:xfrm>
            <a:off x="8274101"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07  </a:t>
            </a:r>
            <a:pPr indent="0" marL="0">
              <a:buNone/>
            </a:pPr>
            <a:r>
              <a:rPr lang="en-US" sz="1100" b="1" dirty="0">
                <a:solidFill>
                  <a:srgbClr val="232936"/>
                </a:solidFill>
                <a:latin typeface="Calibri" pitchFamily="34" charset="0"/>
                <a:ea typeface="Calibri" pitchFamily="34" charset="-122"/>
                <a:cs typeface="Calibri" pitchFamily="34" charset="-120"/>
              </a:rPr>
              <a:t>Format devise</a:t>
            </a:r>
            <a:endParaRPr lang="en-US" sz="1100" dirty="0"/>
          </a:p>
        </p:txBody>
      </p:sp>
      <p:sp>
        <p:nvSpPr>
          <p:cNvPr id="15" name="Text 10"/>
          <p:cNvSpPr txBox="1"/>
          <p:nvPr/>
        </p:nvSpPr>
        <p:spPr>
          <a:xfrm>
            <a:off x="8274101"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08-tendance/07-format-devise.png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CASCADE (WATERFALL)</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Cascade (waterfall) — déclinaisons</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Expliquer un écart : d'où l'on part, ce qui ajoute, ce qui retire, où l'on arrive.</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09-cascade/01-defaut.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09-cascade/01-defaut.png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09-cascade/02-avec-valeurs.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Avec valeurs</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09-cascade/02-avec-valeurs.png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09-cascade/03-sans-colonne-total.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Sans colonne de total</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09-cascade/03-sans-colonne-total.png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09-cascade/04-couleurs-personnalisees.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Couleurs personnalisées</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09-cascade/04-couleurs-personnalisees.png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09-cascade/05-valeurs-compactes.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Valeurs compactes</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09-cascade/05-valeurs-compactes.png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JAUGE</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Jauge — déclinaisons</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Situer une valeur sur une échelle bornée : satisfaction, taux d'occupation, note.</a:t>
            </a:r>
            <a:endParaRPr lang="en-US" sz="1200" dirty="0"/>
          </a:p>
        </p:txBody>
      </p:sp>
      <p:sp>
        <p:nvSpPr>
          <p:cNvPr id="5" name="Shape 3"/>
          <p:cNvSpPr/>
          <p:nvPr/>
        </p:nvSpPr>
        <p:spPr>
          <a:xfrm>
            <a:off x="457200" y="2380601"/>
            <a:ext cx="3588410" cy="2645438"/>
          </a:xfrm>
          <a:prstGeom prst="roundRect">
            <a:avLst>
              <a:gd name="adj" fmla="val 1728"/>
            </a:avLst>
          </a:prstGeom>
          <a:solidFill>
            <a:srgbClr val="F5F7F9"/>
          </a:solidFill>
          <a:ln w="9525">
            <a:solidFill>
              <a:srgbClr val="DCE1E7"/>
            </a:solidFill>
            <a:prstDash val="solid"/>
          </a:ln>
        </p:spPr>
      </p:sp>
      <p:pic>
        <p:nvPicPr>
          <p:cNvPr id="6" name="Image 0" descr="/home/user/Rath/captures/10-jauge/01-defaut.png">    </p:cNvPr>
          <p:cNvPicPr>
            <a:picLocks noChangeAspect="1"/>
          </p:cNvPicPr>
          <p:nvPr/>
        </p:nvPicPr>
        <p:blipFill>
          <a:blip r:embed="rId1"/>
          <a:stretch>
            <a:fillRect/>
          </a:stretch>
        </p:blipFill>
        <p:spPr>
          <a:xfrm>
            <a:off x="548640" y="2494367"/>
            <a:ext cx="3405530" cy="2033858"/>
          </a:xfrm>
          <a:prstGeom prst="rect">
            <a:avLst/>
          </a:prstGeom>
        </p:spPr>
      </p:pic>
      <p:sp>
        <p:nvSpPr>
          <p:cNvPr id="7" name="Text 4"/>
          <p:cNvSpPr txBox="1"/>
          <p:nvPr/>
        </p:nvSpPr>
        <p:spPr>
          <a:xfrm>
            <a:off x="585216"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10-jauge/01-defaut.png</a:t>
            </a:r>
            <a:endParaRPr lang="en-US" sz="800" dirty="0"/>
          </a:p>
        </p:txBody>
      </p:sp>
      <p:sp>
        <p:nvSpPr>
          <p:cNvPr id="9" name="Shape 6"/>
          <p:cNvSpPr/>
          <p:nvPr/>
        </p:nvSpPr>
        <p:spPr>
          <a:xfrm>
            <a:off x="4301642" y="2380601"/>
            <a:ext cx="3588410" cy="2645438"/>
          </a:xfrm>
          <a:prstGeom prst="roundRect">
            <a:avLst>
              <a:gd name="adj" fmla="val 1728"/>
            </a:avLst>
          </a:prstGeom>
          <a:solidFill>
            <a:srgbClr val="F5F7F9"/>
          </a:solidFill>
          <a:ln w="9525">
            <a:solidFill>
              <a:srgbClr val="DCE1E7"/>
            </a:solidFill>
            <a:prstDash val="solid"/>
          </a:ln>
        </p:spPr>
      </p:sp>
      <p:pic>
        <p:nvPicPr>
          <p:cNvPr id="10" name="Image 1" descr="/home/user/Rath/captures/10-jauge/02-avec-plages-colorees.png">    </p:cNvPr>
          <p:cNvPicPr>
            <a:picLocks noChangeAspect="1"/>
          </p:cNvPicPr>
          <p:nvPr/>
        </p:nvPicPr>
        <p:blipFill>
          <a:blip r:embed="rId2"/>
          <a:stretch>
            <a:fillRect/>
          </a:stretch>
        </p:blipFill>
        <p:spPr>
          <a:xfrm>
            <a:off x="4393082" y="2494367"/>
            <a:ext cx="3405530" cy="2033858"/>
          </a:xfrm>
          <a:prstGeom prst="rect">
            <a:avLst/>
          </a:prstGeom>
        </p:spPr>
      </p:pic>
      <p:sp>
        <p:nvSpPr>
          <p:cNvPr id="11" name="Text 7"/>
          <p:cNvSpPr txBox="1"/>
          <p:nvPr/>
        </p:nvSpPr>
        <p:spPr>
          <a:xfrm>
            <a:off x="4429658"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Plages colorées</a:t>
            </a:r>
            <a:endParaRPr lang="en-US" sz="1100" dirty="0"/>
          </a:p>
        </p:txBody>
      </p:sp>
      <p:sp>
        <p:nvSpPr>
          <p:cNvPr id="12" name="Text 8"/>
          <p:cNvSpPr txBox="1"/>
          <p:nvPr/>
        </p:nvSpPr>
        <p:spPr>
          <a:xfrm>
            <a:off x="4429658"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10-jauge/02-avec-plages-colorees.png</a:t>
            </a:r>
            <a:endParaRPr lang="en-US" sz="800" dirty="0"/>
          </a:p>
        </p:txBody>
      </p:sp>
      <p:sp>
        <p:nvSpPr>
          <p:cNvPr id="13" name="Shape 9"/>
          <p:cNvSpPr/>
          <p:nvPr/>
        </p:nvSpPr>
        <p:spPr>
          <a:xfrm>
            <a:off x="8146085" y="2380601"/>
            <a:ext cx="3588410" cy="2645438"/>
          </a:xfrm>
          <a:prstGeom prst="roundRect">
            <a:avLst>
              <a:gd name="adj" fmla="val 1728"/>
            </a:avLst>
          </a:prstGeom>
          <a:solidFill>
            <a:srgbClr val="F5F7F9"/>
          </a:solidFill>
          <a:ln w="9525">
            <a:solidFill>
              <a:srgbClr val="DCE1E7"/>
            </a:solidFill>
            <a:prstDash val="solid"/>
          </a:ln>
        </p:spPr>
      </p:sp>
      <p:pic>
        <p:nvPicPr>
          <p:cNvPr id="14" name="Image 2" descr="/home/user/Rath/captures/10-jauge/03-avec-suffixe.png">    </p:cNvPr>
          <p:cNvPicPr>
            <a:picLocks noChangeAspect="1"/>
          </p:cNvPicPr>
          <p:nvPr/>
        </p:nvPicPr>
        <p:blipFill>
          <a:blip r:embed="rId3"/>
          <a:stretch>
            <a:fillRect/>
          </a:stretch>
        </p:blipFill>
        <p:spPr>
          <a:xfrm>
            <a:off x="8237525" y="2494367"/>
            <a:ext cx="3405530" cy="2033858"/>
          </a:xfrm>
          <a:prstGeom prst="rect">
            <a:avLst/>
          </a:prstGeom>
        </p:spPr>
      </p:pic>
      <p:sp>
        <p:nvSpPr>
          <p:cNvPr id="15" name="Text 10"/>
          <p:cNvSpPr txBox="1"/>
          <p:nvPr/>
        </p:nvSpPr>
        <p:spPr>
          <a:xfrm>
            <a:off x="8274101"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Avec suffixe</a:t>
            </a:r>
            <a:endParaRPr lang="en-US" sz="1100" dirty="0"/>
          </a:p>
        </p:txBody>
      </p:sp>
      <p:sp>
        <p:nvSpPr>
          <p:cNvPr id="16" name="Text 11"/>
          <p:cNvSpPr txBox="1"/>
          <p:nvPr/>
        </p:nvSpPr>
        <p:spPr>
          <a:xfrm>
            <a:off x="8274101"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10-jauge/03-avec-suffixe.png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PROGRESSION</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Progression — déclinaisons</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L'avancement vers un objectif chiffré : où en est-on du chemin ?</a:t>
            </a:r>
            <a:endParaRPr lang="en-US" sz="1200" dirty="0"/>
          </a:p>
        </p:txBody>
      </p:sp>
      <p:sp>
        <p:nvSpPr>
          <p:cNvPr id="5" name="Shape 3"/>
          <p:cNvSpPr/>
          <p:nvPr/>
        </p:nvSpPr>
        <p:spPr>
          <a:xfrm>
            <a:off x="457200" y="2380601"/>
            <a:ext cx="3588410" cy="2645438"/>
          </a:xfrm>
          <a:prstGeom prst="roundRect">
            <a:avLst>
              <a:gd name="adj" fmla="val 1728"/>
            </a:avLst>
          </a:prstGeom>
          <a:solidFill>
            <a:srgbClr val="F5F7F9"/>
          </a:solidFill>
          <a:ln w="9525">
            <a:solidFill>
              <a:srgbClr val="DCE1E7"/>
            </a:solidFill>
            <a:prstDash val="solid"/>
          </a:ln>
        </p:spPr>
      </p:sp>
      <p:pic>
        <p:nvPicPr>
          <p:cNvPr id="6" name="Image 0" descr="/home/user/Rath/captures/11-progression/01-defaut.png">    </p:cNvPr>
          <p:cNvPicPr>
            <a:picLocks noChangeAspect="1"/>
          </p:cNvPicPr>
          <p:nvPr/>
        </p:nvPicPr>
        <p:blipFill>
          <a:blip r:embed="rId1"/>
          <a:stretch>
            <a:fillRect/>
          </a:stretch>
        </p:blipFill>
        <p:spPr>
          <a:xfrm>
            <a:off x="548640" y="2522594"/>
            <a:ext cx="3405530" cy="1977405"/>
          </a:xfrm>
          <a:prstGeom prst="rect">
            <a:avLst/>
          </a:prstGeom>
        </p:spPr>
      </p:pic>
      <p:sp>
        <p:nvSpPr>
          <p:cNvPr id="7" name="Text 4"/>
          <p:cNvSpPr txBox="1"/>
          <p:nvPr/>
        </p:nvSpPr>
        <p:spPr>
          <a:xfrm>
            <a:off x="585216"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11-progression/01-defaut.png</a:t>
            </a:r>
            <a:endParaRPr lang="en-US" sz="800" dirty="0"/>
          </a:p>
        </p:txBody>
      </p:sp>
      <p:sp>
        <p:nvSpPr>
          <p:cNvPr id="9" name="Shape 6"/>
          <p:cNvSpPr/>
          <p:nvPr/>
        </p:nvSpPr>
        <p:spPr>
          <a:xfrm>
            <a:off x="4301642" y="2380601"/>
            <a:ext cx="3588410" cy="2645438"/>
          </a:xfrm>
          <a:prstGeom prst="roundRect">
            <a:avLst>
              <a:gd name="adj" fmla="val 1728"/>
            </a:avLst>
          </a:prstGeom>
          <a:solidFill>
            <a:srgbClr val="F5F7F9"/>
          </a:solidFill>
          <a:ln w="9525">
            <a:solidFill>
              <a:srgbClr val="DCE1E7"/>
            </a:solidFill>
            <a:prstDash val="solid"/>
          </a:ln>
        </p:spPr>
      </p:sp>
      <p:pic>
        <p:nvPicPr>
          <p:cNvPr id="10" name="Image 1" descr="/home/user/Rath/captures/11-progression/02-objectif-depasse.png">    </p:cNvPr>
          <p:cNvPicPr>
            <a:picLocks noChangeAspect="1"/>
          </p:cNvPicPr>
          <p:nvPr/>
        </p:nvPicPr>
        <p:blipFill>
          <a:blip r:embed="rId2"/>
          <a:stretch>
            <a:fillRect/>
          </a:stretch>
        </p:blipFill>
        <p:spPr>
          <a:xfrm>
            <a:off x="4393082" y="2522594"/>
            <a:ext cx="3405530" cy="1977405"/>
          </a:xfrm>
          <a:prstGeom prst="rect">
            <a:avLst/>
          </a:prstGeom>
        </p:spPr>
      </p:pic>
      <p:sp>
        <p:nvSpPr>
          <p:cNvPr id="11" name="Text 7"/>
          <p:cNvSpPr txBox="1"/>
          <p:nvPr/>
        </p:nvSpPr>
        <p:spPr>
          <a:xfrm>
            <a:off x="4429658"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Objectif dépassé</a:t>
            </a:r>
            <a:endParaRPr lang="en-US" sz="1100" dirty="0"/>
          </a:p>
        </p:txBody>
      </p:sp>
      <p:sp>
        <p:nvSpPr>
          <p:cNvPr id="12" name="Text 8"/>
          <p:cNvSpPr txBox="1"/>
          <p:nvPr/>
        </p:nvSpPr>
        <p:spPr>
          <a:xfrm>
            <a:off x="4429658"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11-progression/02-objectif-depasse.png</a:t>
            </a:r>
            <a:endParaRPr lang="en-US" sz="800" dirty="0"/>
          </a:p>
        </p:txBody>
      </p:sp>
      <p:sp>
        <p:nvSpPr>
          <p:cNvPr id="13" name="Shape 9"/>
          <p:cNvSpPr/>
          <p:nvPr/>
        </p:nvSpPr>
        <p:spPr>
          <a:xfrm>
            <a:off x="8146085" y="2380601"/>
            <a:ext cx="3588410" cy="2645438"/>
          </a:xfrm>
          <a:prstGeom prst="roundRect">
            <a:avLst>
              <a:gd name="adj" fmla="val 1728"/>
            </a:avLst>
          </a:prstGeom>
          <a:solidFill>
            <a:srgbClr val="F5F7F9"/>
          </a:solidFill>
          <a:ln w="9525">
            <a:solidFill>
              <a:srgbClr val="DCE1E7"/>
            </a:solidFill>
            <a:prstDash val="solid"/>
          </a:ln>
        </p:spPr>
      </p:sp>
      <p:pic>
        <p:nvPicPr>
          <p:cNvPr id="14" name="Image 2" descr="/home/user/Rath/captures/11-progression/03-couleur-et-devise.png">    </p:cNvPr>
          <p:cNvPicPr>
            <a:picLocks noChangeAspect="1"/>
          </p:cNvPicPr>
          <p:nvPr/>
        </p:nvPicPr>
        <p:blipFill>
          <a:blip r:embed="rId3"/>
          <a:stretch>
            <a:fillRect/>
          </a:stretch>
        </p:blipFill>
        <p:spPr>
          <a:xfrm>
            <a:off x="8237525" y="2522594"/>
            <a:ext cx="3405530" cy="1977405"/>
          </a:xfrm>
          <a:prstGeom prst="rect">
            <a:avLst/>
          </a:prstGeom>
        </p:spPr>
      </p:pic>
      <p:sp>
        <p:nvSpPr>
          <p:cNvPr id="15" name="Text 10"/>
          <p:cNvSpPr txBox="1"/>
          <p:nvPr/>
        </p:nvSpPr>
        <p:spPr>
          <a:xfrm>
            <a:off x="8274101" y="4568839"/>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Couleur + devise</a:t>
            </a:r>
            <a:endParaRPr lang="en-US" sz="1100" dirty="0"/>
          </a:p>
        </p:txBody>
      </p:sp>
      <p:sp>
        <p:nvSpPr>
          <p:cNvPr id="16" name="Text 11"/>
          <p:cNvSpPr txBox="1"/>
          <p:nvPr/>
        </p:nvSpPr>
        <p:spPr>
          <a:xfrm>
            <a:off x="8274101" y="4788295"/>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11-progression/03-couleur-et-devise.png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274320"/>
            <a:ext cx="11277295" cy="201168"/>
          </a:xfrm>
          <a:prstGeom prst="rect">
            <a:avLst/>
          </a:prstGeom>
          <a:noFill/>
          <a:ln/>
        </p:spPr>
        <p:txBody>
          <a:bodyPr wrap="square" lIns="0" tIns="0" rIns="0" bIns="0" rtlCol="0" anchor="ctr"/>
          <a:lstStyle/>
          <a:p>
            <a:pPr indent="0" marL="0">
              <a:buNone/>
            </a:pPr>
            <a:r>
              <a:rPr lang="en-US" sz="1000" b="1" spc="200" kern="0" dirty="0">
                <a:solidFill>
                  <a:srgbClr val="E2622C"/>
                </a:solidFill>
                <a:latin typeface="Calibri" pitchFamily="34" charset="0"/>
                <a:ea typeface="Calibri" pitchFamily="34" charset="-122"/>
                <a:cs typeface="Calibri" pitchFamily="34" charset="-120"/>
              </a:rPr>
              <a:t>ANNEXE · NUAGE DE POINTS</a:t>
            </a:r>
            <a:endParaRPr lang="en-US" sz="1000" dirty="0"/>
          </a:p>
        </p:txBody>
      </p:sp>
      <p:sp>
        <p:nvSpPr>
          <p:cNvPr id="3" name="Text 1"/>
          <p:cNvSpPr txBox="1"/>
          <p:nvPr/>
        </p:nvSpPr>
        <p:spPr>
          <a:xfrm>
            <a:off x="457200" y="493776"/>
            <a:ext cx="11277295" cy="457200"/>
          </a:xfrm>
          <a:prstGeom prst="rect">
            <a:avLst/>
          </a:prstGeom>
          <a:noFill/>
          <a:ln/>
        </p:spPr>
        <p:txBody>
          <a:bodyPr wrap="square" lIns="0" tIns="0" rIns="0" bIns="0" rtlCol="0" anchor="ctr"/>
          <a:lstStyle/>
          <a:p>
            <a:pPr indent="0" marL="0">
              <a:buNone/>
            </a:pPr>
            <a:r>
              <a:rPr lang="en-US" sz="2600" b="1" dirty="0">
                <a:solidFill>
                  <a:srgbClr val="232936"/>
                </a:solidFill>
                <a:latin typeface="Cambria" pitchFamily="34" charset="0"/>
                <a:ea typeface="Cambria" pitchFamily="34" charset="-122"/>
                <a:cs typeface="Cambria" pitchFamily="34" charset="-120"/>
              </a:rPr>
              <a:t>Nuage de points — déclinaisons</a:t>
            </a:r>
            <a:endParaRPr lang="en-US" sz="2600" dirty="0"/>
          </a:p>
        </p:txBody>
      </p:sp>
      <p:sp>
        <p:nvSpPr>
          <p:cNvPr id="4" name="Text 2"/>
          <p:cNvSpPr txBox="1"/>
          <p:nvPr/>
        </p:nvSpPr>
        <p:spPr>
          <a:xfrm>
            <a:off x="457200" y="950976"/>
            <a:ext cx="10911535" cy="274320"/>
          </a:xfrm>
          <a:prstGeom prst="rect">
            <a:avLst/>
          </a:prstGeom>
          <a:noFill/>
          <a:ln/>
        </p:spPr>
        <p:txBody>
          <a:bodyPr wrap="square" lIns="0" tIns="0" rIns="0" bIns="0" rtlCol="0" anchor="ctr"/>
          <a:lstStyle/>
          <a:p>
            <a:pPr indent="0" marL="0">
              <a:buNone/>
            </a:pPr>
            <a:r>
              <a:rPr lang="en-US" sz="1200" dirty="0">
                <a:solidFill>
                  <a:srgbClr val="7C8598"/>
                </a:solidFill>
                <a:latin typeface="Calibri" pitchFamily="34" charset="0"/>
                <a:ea typeface="Calibri" pitchFamily="34" charset="-122"/>
                <a:cs typeface="Calibri" pitchFamily="34" charset="-120"/>
              </a:rPr>
              <a:t>Chercher une relation entre deux mesures et repérer les points atypiques.</a:t>
            </a:r>
            <a:endParaRPr lang="en-US" sz="1200" dirty="0"/>
          </a:p>
        </p:txBody>
      </p:sp>
      <p:sp>
        <p:nvSpPr>
          <p:cNvPr id="5" name="Shape 3"/>
          <p:cNvSpPr/>
          <p:nvPr/>
        </p:nvSpPr>
        <p:spPr>
          <a:xfrm>
            <a:off x="457200" y="1280160"/>
            <a:ext cx="3588410" cy="2322576"/>
          </a:xfrm>
          <a:prstGeom prst="roundRect">
            <a:avLst>
              <a:gd name="adj" fmla="val 1969"/>
            </a:avLst>
          </a:prstGeom>
          <a:solidFill>
            <a:srgbClr val="F5F7F9"/>
          </a:solidFill>
          <a:ln w="9525">
            <a:solidFill>
              <a:srgbClr val="DCE1E7"/>
            </a:solidFill>
            <a:prstDash val="solid"/>
          </a:ln>
        </p:spPr>
      </p:sp>
      <p:pic>
        <p:nvPicPr>
          <p:cNvPr id="6" name="Image 0" descr="/home/user/Rath/captures/12-nuage-de-points/01-defaut.png">    </p:cNvPr>
          <p:cNvPicPr>
            <a:picLocks noChangeAspect="1"/>
          </p:cNvPicPr>
          <p:nvPr/>
        </p:nvPicPr>
        <p:blipFill>
          <a:blip r:embed="rId1"/>
          <a:stretch>
            <a:fillRect/>
          </a:stretch>
        </p:blipFill>
        <p:spPr>
          <a:xfrm>
            <a:off x="732094" y="1371600"/>
            <a:ext cx="3038622" cy="1755648"/>
          </a:xfrm>
          <a:prstGeom prst="rect">
            <a:avLst/>
          </a:prstGeom>
        </p:spPr>
      </p:pic>
      <p:sp>
        <p:nvSpPr>
          <p:cNvPr id="7" name="Text 4"/>
          <p:cNvSpPr txBox="1"/>
          <p:nvPr/>
        </p:nvSpPr>
        <p:spPr>
          <a:xfrm>
            <a:off x="585216"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01  </a:t>
            </a:r>
            <a:pPr indent="0" marL="0">
              <a:buNone/>
            </a:pPr>
            <a:r>
              <a:rPr lang="en-US" sz="1100" b="1" dirty="0">
                <a:solidFill>
                  <a:srgbClr val="232936"/>
                </a:solidFill>
                <a:latin typeface="Calibri" pitchFamily="34" charset="0"/>
                <a:ea typeface="Calibri" pitchFamily="34" charset="-122"/>
                <a:cs typeface="Calibri" pitchFamily="34" charset="-120"/>
              </a:rPr>
              <a:t>Défaut</a:t>
            </a:r>
            <a:endParaRPr lang="en-US" sz="1100" dirty="0"/>
          </a:p>
        </p:txBody>
      </p:sp>
      <p:sp>
        <p:nvSpPr>
          <p:cNvPr id="8" name="Text 5"/>
          <p:cNvSpPr txBox="1"/>
          <p:nvPr/>
        </p:nvSpPr>
        <p:spPr>
          <a:xfrm>
            <a:off x="585216"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12-nuage-de-points/01-defaut.png</a:t>
            </a:r>
            <a:endParaRPr lang="en-US" sz="800" dirty="0"/>
          </a:p>
        </p:txBody>
      </p:sp>
      <p:sp>
        <p:nvSpPr>
          <p:cNvPr id="9" name="Shape 6"/>
          <p:cNvSpPr/>
          <p:nvPr/>
        </p:nvSpPr>
        <p:spPr>
          <a:xfrm>
            <a:off x="4301642" y="1280160"/>
            <a:ext cx="3588410" cy="2322576"/>
          </a:xfrm>
          <a:prstGeom prst="roundRect">
            <a:avLst>
              <a:gd name="adj" fmla="val 1969"/>
            </a:avLst>
          </a:prstGeom>
          <a:solidFill>
            <a:srgbClr val="F5F7F9"/>
          </a:solidFill>
          <a:ln w="9525">
            <a:solidFill>
              <a:srgbClr val="DCE1E7"/>
            </a:solidFill>
            <a:prstDash val="solid"/>
          </a:ln>
        </p:spPr>
      </p:sp>
      <p:pic>
        <p:nvPicPr>
          <p:cNvPr id="10" name="Image 1" descr="/home/user/Rath/captures/12-nuage-de-points/02-avec-etiquettes.png">    </p:cNvPr>
          <p:cNvPicPr>
            <a:picLocks noChangeAspect="1"/>
          </p:cNvPicPr>
          <p:nvPr/>
        </p:nvPicPr>
        <p:blipFill>
          <a:blip r:embed="rId2"/>
          <a:stretch>
            <a:fillRect/>
          </a:stretch>
        </p:blipFill>
        <p:spPr>
          <a:xfrm>
            <a:off x="4576537" y="1371600"/>
            <a:ext cx="3038622" cy="1755648"/>
          </a:xfrm>
          <a:prstGeom prst="rect">
            <a:avLst/>
          </a:prstGeom>
        </p:spPr>
      </p:pic>
      <p:sp>
        <p:nvSpPr>
          <p:cNvPr id="11" name="Text 7"/>
          <p:cNvSpPr txBox="1"/>
          <p:nvPr/>
        </p:nvSpPr>
        <p:spPr>
          <a:xfrm>
            <a:off x="4429658"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02  </a:t>
            </a:r>
            <a:pPr indent="0" marL="0">
              <a:buNone/>
            </a:pPr>
            <a:r>
              <a:rPr lang="en-US" sz="1100" b="1" dirty="0">
                <a:solidFill>
                  <a:srgbClr val="232936"/>
                </a:solidFill>
                <a:latin typeface="Calibri" pitchFamily="34" charset="0"/>
                <a:ea typeface="Calibri" pitchFamily="34" charset="-122"/>
                <a:cs typeface="Calibri" pitchFamily="34" charset="-120"/>
              </a:rPr>
              <a:t>Avec étiquettes</a:t>
            </a:r>
            <a:endParaRPr lang="en-US" sz="1100" dirty="0"/>
          </a:p>
        </p:txBody>
      </p:sp>
      <p:sp>
        <p:nvSpPr>
          <p:cNvPr id="12" name="Text 8"/>
          <p:cNvSpPr txBox="1"/>
          <p:nvPr/>
        </p:nvSpPr>
        <p:spPr>
          <a:xfrm>
            <a:off x="4429658"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12-nuage-de-points/02-avec-etiquettes.png</a:t>
            </a:r>
            <a:endParaRPr lang="en-US" sz="800" dirty="0"/>
          </a:p>
        </p:txBody>
      </p:sp>
      <p:sp>
        <p:nvSpPr>
          <p:cNvPr id="13" name="Shape 9"/>
          <p:cNvSpPr/>
          <p:nvPr/>
        </p:nvSpPr>
        <p:spPr>
          <a:xfrm>
            <a:off x="8146085" y="1280160"/>
            <a:ext cx="3588410" cy="2322576"/>
          </a:xfrm>
          <a:prstGeom prst="roundRect">
            <a:avLst>
              <a:gd name="adj" fmla="val 1969"/>
            </a:avLst>
          </a:prstGeom>
          <a:solidFill>
            <a:srgbClr val="F5F7F9"/>
          </a:solidFill>
          <a:ln w="9525">
            <a:solidFill>
              <a:srgbClr val="DCE1E7"/>
            </a:solidFill>
            <a:prstDash val="solid"/>
          </a:ln>
        </p:spPr>
      </p:sp>
      <p:pic>
        <p:nvPicPr>
          <p:cNvPr id="14" name="Image 2" descr="/home/user/Rath/captures/12-nuage-de-points/03-bulles.png">    </p:cNvPr>
          <p:cNvPicPr>
            <a:picLocks noChangeAspect="1"/>
          </p:cNvPicPr>
          <p:nvPr/>
        </p:nvPicPr>
        <p:blipFill>
          <a:blip r:embed="rId3"/>
          <a:stretch>
            <a:fillRect/>
          </a:stretch>
        </p:blipFill>
        <p:spPr>
          <a:xfrm>
            <a:off x="8420979" y="1371600"/>
            <a:ext cx="3038622" cy="1755648"/>
          </a:xfrm>
          <a:prstGeom prst="rect">
            <a:avLst/>
          </a:prstGeom>
        </p:spPr>
      </p:pic>
      <p:sp>
        <p:nvSpPr>
          <p:cNvPr id="15" name="Text 10"/>
          <p:cNvSpPr txBox="1"/>
          <p:nvPr/>
        </p:nvSpPr>
        <p:spPr>
          <a:xfrm>
            <a:off x="8274101" y="3145536"/>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03  </a:t>
            </a:r>
            <a:pPr indent="0" marL="0">
              <a:buNone/>
            </a:pPr>
            <a:r>
              <a:rPr lang="en-US" sz="1100" b="1" dirty="0">
                <a:solidFill>
                  <a:srgbClr val="232936"/>
                </a:solidFill>
                <a:latin typeface="Calibri" pitchFamily="34" charset="0"/>
                <a:ea typeface="Calibri" pitchFamily="34" charset="-122"/>
                <a:cs typeface="Calibri" pitchFamily="34" charset="-120"/>
              </a:rPr>
              <a:t>Bulles</a:t>
            </a:r>
            <a:endParaRPr lang="en-US" sz="1100" dirty="0"/>
          </a:p>
        </p:txBody>
      </p:sp>
      <p:sp>
        <p:nvSpPr>
          <p:cNvPr id="16" name="Text 11"/>
          <p:cNvSpPr txBox="1"/>
          <p:nvPr/>
        </p:nvSpPr>
        <p:spPr>
          <a:xfrm>
            <a:off x="8274101" y="3364992"/>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12-nuage-de-points/03-bulles.png</a:t>
            </a:r>
            <a:endParaRPr lang="en-US" sz="800" dirty="0"/>
          </a:p>
        </p:txBody>
      </p:sp>
      <p:sp>
        <p:nvSpPr>
          <p:cNvPr id="17" name="Shape 12"/>
          <p:cNvSpPr/>
          <p:nvPr/>
        </p:nvSpPr>
        <p:spPr>
          <a:xfrm>
            <a:off x="2379421" y="3803904"/>
            <a:ext cx="3588410" cy="2322576"/>
          </a:xfrm>
          <a:prstGeom prst="roundRect">
            <a:avLst>
              <a:gd name="adj" fmla="val 1969"/>
            </a:avLst>
          </a:prstGeom>
          <a:solidFill>
            <a:srgbClr val="F5F7F9"/>
          </a:solidFill>
          <a:ln w="9525">
            <a:solidFill>
              <a:srgbClr val="DCE1E7"/>
            </a:solidFill>
            <a:prstDash val="solid"/>
          </a:ln>
        </p:spPr>
      </p:sp>
      <p:pic>
        <p:nvPicPr>
          <p:cNvPr id="18" name="Image 3" descr="/home/user/Rath/captures/12-nuage-de-points/04-echelle-log.png">    </p:cNvPr>
          <p:cNvPicPr>
            <a:picLocks noChangeAspect="1"/>
          </p:cNvPicPr>
          <p:nvPr/>
        </p:nvPicPr>
        <p:blipFill>
          <a:blip r:embed="rId4"/>
          <a:stretch>
            <a:fillRect/>
          </a:stretch>
        </p:blipFill>
        <p:spPr>
          <a:xfrm>
            <a:off x="2654316" y="3895344"/>
            <a:ext cx="3038622" cy="1755648"/>
          </a:xfrm>
          <a:prstGeom prst="rect">
            <a:avLst/>
          </a:prstGeom>
        </p:spPr>
      </p:pic>
      <p:sp>
        <p:nvSpPr>
          <p:cNvPr id="19" name="Text 13"/>
          <p:cNvSpPr txBox="1"/>
          <p:nvPr/>
        </p:nvSpPr>
        <p:spPr>
          <a:xfrm>
            <a:off x="2507437"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04  </a:t>
            </a:r>
            <a:pPr indent="0" marL="0">
              <a:buNone/>
            </a:pPr>
            <a:r>
              <a:rPr lang="en-US" sz="1100" b="1" dirty="0">
                <a:solidFill>
                  <a:srgbClr val="232936"/>
                </a:solidFill>
                <a:latin typeface="Calibri" pitchFamily="34" charset="0"/>
                <a:ea typeface="Calibri" pitchFamily="34" charset="-122"/>
                <a:cs typeface="Calibri" pitchFamily="34" charset="-120"/>
              </a:rPr>
              <a:t>Échelle logarithmique</a:t>
            </a:r>
            <a:endParaRPr lang="en-US" sz="1100" dirty="0"/>
          </a:p>
        </p:txBody>
      </p:sp>
      <p:sp>
        <p:nvSpPr>
          <p:cNvPr id="20" name="Text 14"/>
          <p:cNvSpPr txBox="1"/>
          <p:nvPr/>
        </p:nvSpPr>
        <p:spPr>
          <a:xfrm>
            <a:off x="2507437"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12-nuage-de-points/04-echelle-log.png</a:t>
            </a:r>
            <a:endParaRPr lang="en-US" sz="800" dirty="0"/>
          </a:p>
        </p:txBody>
      </p:sp>
      <p:sp>
        <p:nvSpPr>
          <p:cNvPr id="21" name="Shape 15"/>
          <p:cNvSpPr/>
          <p:nvPr/>
        </p:nvSpPr>
        <p:spPr>
          <a:xfrm>
            <a:off x="6223864" y="3803904"/>
            <a:ext cx="3588410" cy="2322576"/>
          </a:xfrm>
          <a:prstGeom prst="roundRect">
            <a:avLst>
              <a:gd name="adj" fmla="val 1969"/>
            </a:avLst>
          </a:prstGeom>
          <a:solidFill>
            <a:srgbClr val="F5F7F9"/>
          </a:solidFill>
          <a:ln w="9525">
            <a:solidFill>
              <a:srgbClr val="DCE1E7"/>
            </a:solidFill>
            <a:prstDash val="solid"/>
          </a:ln>
        </p:spPr>
      </p:sp>
      <p:pic>
        <p:nvPicPr>
          <p:cNvPr id="22" name="Image 4" descr="/home/user/Rath/captures/12-nuage-de-points/05-sans-etiquettes-axes.png">    </p:cNvPr>
          <p:cNvPicPr>
            <a:picLocks noChangeAspect="1"/>
          </p:cNvPicPr>
          <p:nvPr/>
        </p:nvPicPr>
        <p:blipFill>
          <a:blip r:embed="rId5"/>
          <a:stretch>
            <a:fillRect/>
          </a:stretch>
        </p:blipFill>
        <p:spPr>
          <a:xfrm>
            <a:off x="6498758" y="3895344"/>
            <a:ext cx="3038622" cy="1755648"/>
          </a:xfrm>
          <a:prstGeom prst="rect">
            <a:avLst/>
          </a:prstGeom>
        </p:spPr>
      </p:pic>
      <p:sp>
        <p:nvSpPr>
          <p:cNvPr id="23" name="Text 16"/>
          <p:cNvSpPr txBox="1"/>
          <p:nvPr/>
        </p:nvSpPr>
        <p:spPr>
          <a:xfrm>
            <a:off x="6351880" y="5669280"/>
            <a:ext cx="3332378" cy="237744"/>
          </a:xfrm>
          <a:prstGeom prst="rect">
            <a:avLst/>
          </a:prstGeom>
          <a:noFill/>
          <a:ln/>
        </p:spPr>
        <p:txBody>
          <a:bodyPr wrap="square" lIns="0" tIns="0" rIns="0" bIns="0" rtlCol="0" anchor="ctr"/>
          <a:lstStyle/>
          <a:p>
            <a:pPr indent="0" marL="0">
              <a:buNone/>
            </a:pPr>
            <a:r>
              <a:rPr lang="en-US" sz="1100" b="1" dirty="0">
                <a:solidFill>
                  <a:srgbClr val="E2622C"/>
                </a:solidFill>
                <a:latin typeface="Calibri" pitchFamily="34" charset="0"/>
                <a:ea typeface="Calibri" pitchFamily="34" charset="-122"/>
                <a:cs typeface="Calibri" pitchFamily="34" charset="-120"/>
              </a:rPr>
              <a:t>05  </a:t>
            </a:r>
            <a:pPr indent="0" marL="0">
              <a:buNone/>
            </a:pPr>
            <a:r>
              <a:rPr lang="en-US" sz="1100" b="1" dirty="0">
                <a:solidFill>
                  <a:srgbClr val="232936"/>
                </a:solidFill>
                <a:latin typeface="Calibri" pitchFamily="34" charset="0"/>
                <a:ea typeface="Calibri" pitchFamily="34" charset="-122"/>
                <a:cs typeface="Calibri" pitchFamily="34" charset="-120"/>
              </a:rPr>
              <a:t>Sans étiquettes d'axes</a:t>
            </a:r>
            <a:endParaRPr lang="en-US" sz="1100" dirty="0"/>
          </a:p>
        </p:txBody>
      </p:sp>
      <p:sp>
        <p:nvSpPr>
          <p:cNvPr id="24" name="Text 17"/>
          <p:cNvSpPr txBox="1"/>
          <p:nvPr/>
        </p:nvSpPr>
        <p:spPr>
          <a:xfrm>
            <a:off x="6351880" y="5888736"/>
            <a:ext cx="3332378" cy="201168"/>
          </a:xfrm>
          <a:prstGeom prst="rect">
            <a:avLst/>
          </a:prstGeom>
          <a:noFill/>
          <a:ln/>
        </p:spPr>
        <p:txBody>
          <a:bodyPr wrap="square" lIns="0" tIns="0" rIns="0" bIns="0" rtlCol="0" anchor="ctr"/>
          <a:lstStyle/>
          <a:p>
            <a:pPr indent="0" marL="0">
              <a:buNone/>
            </a:pPr>
            <a:r>
              <a:rPr lang="en-US" sz="800" dirty="0">
                <a:solidFill>
                  <a:srgbClr val="7C8598"/>
                </a:solidFill>
                <a:latin typeface="Calibri" pitchFamily="34" charset="0"/>
                <a:ea typeface="Calibri" pitchFamily="34" charset="-122"/>
                <a:cs typeface="Calibri" pitchFamily="34" charset="-120"/>
              </a:rPr>
              <a:t>12-nuage-de-points/05-sans-etiquettes-axes.png</a:t>
            </a:r>
            <a:endParaRPr lang="en-US" sz="800" dirty="0"/>
          </a:p>
        </p:txBody>
      </p:sp>
      <p:sp>
        <p:nvSpPr>
          <p:cNvPr id="25" name="Slide Number Placeholder 0"/>
          <p:cNvSpPr>
            <a:spLocks noGrp="1"/>
          </p:cNvSpPr>
          <p:nvPr>
            <p:ph type="sldNum" sz="quarter" idx="4294967295"/>
          </p:nvPr>
        </p:nvSpPr>
        <p:spPr>
          <a:xfrm>
            <a:off x="11292840" y="641908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EB6C2"/>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40080" y="1371600"/>
            <a:ext cx="5486400" cy="274320"/>
          </a:xfrm>
          <a:prstGeom prst="rect">
            <a:avLst/>
          </a:prstGeom>
          <a:noFill/>
          <a:ln/>
        </p:spPr>
        <p:txBody>
          <a:bodyPr wrap="square" lIns="0" tIns="0" rIns="0" bIns="0" rtlCol="0" anchor="ctr"/>
          <a:lstStyle/>
          <a:p>
            <a:pPr indent="0" marL="0">
              <a:buNone/>
            </a:pPr>
            <a:r>
              <a:rPr lang="en-US" sz="1200" b="1" spc="300" kern="0" dirty="0">
                <a:solidFill>
                  <a:srgbClr val="E2622C"/>
                </a:solidFill>
                <a:latin typeface="Calibri" pitchFamily="34" charset="0"/>
                <a:ea typeface="Calibri" pitchFamily="34" charset="-122"/>
                <a:cs typeface="Calibri" pitchFamily="34" charset="-120"/>
              </a:rPr>
              <a:t>POUR FINIR</a:t>
            </a:r>
            <a:endParaRPr lang="en-US" sz="1200" dirty="0"/>
          </a:p>
        </p:txBody>
      </p:sp>
      <p:sp>
        <p:nvSpPr>
          <p:cNvPr id="3" name="Text 1"/>
          <p:cNvSpPr txBox="1"/>
          <p:nvPr/>
        </p:nvSpPr>
        <p:spPr>
          <a:xfrm>
            <a:off x="640080" y="16916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Avant de renvoyer le fichier</a:t>
            </a:r>
            <a:endParaRPr lang="en-US" sz="3200" dirty="0"/>
          </a:p>
        </p:txBody>
      </p:sp>
      <p:sp>
        <p:nvSpPr>
          <p:cNvPr id="4" name="Shape 2"/>
          <p:cNvSpPr/>
          <p:nvPr/>
        </p:nvSpPr>
        <p:spPr>
          <a:xfrm>
            <a:off x="640080" y="2679192"/>
            <a:ext cx="310896" cy="310896"/>
          </a:xfrm>
          <a:prstGeom prst="ellipse">
            <a:avLst/>
          </a:prstGeom>
          <a:solidFill>
            <a:srgbClr val="E2622C"/>
          </a:solidFill>
          <a:ln w="12700">
            <a:solidFill>
              <a:srgbClr val="E2622C"/>
            </a:solidFill>
            <a:prstDash val="solid"/>
          </a:ln>
        </p:spPr>
      </p:sp>
      <p:sp>
        <p:nvSpPr>
          <p:cNvPr id="5" name="Text 3"/>
          <p:cNvSpPr txBox="1"/>
          <p:nvPr/>
        </p:nvSpPr>
        <p:spPr>
          <a:xfrm>
            <a:off x="640080" y="2679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43000" y="2697480"/>
            <a:ext cx="6766560" cy="365760"/>
          </a:xfrm>
          <a:prstGeom prst="rect">
            <a:avLst/>
          </a:prstGeom>
          <a:noFill/>
          <a:ln/>
        </p:spPr>
        <p:txBody>
          <a:bodyPr wrap="square" lIns="0" tIns="0" rIns="0" bIns="0" rtlCol="0" anchor="ctr"/>
          <a:lstStyle/>
          <a:p>
            <a:pPr indent="0" marL="0">
              <a:buNone/>
            </a:pPr>
            <a:r>
              <a:rPr lang="en-US" sz="1350" dirty="0">
                <a:solidFill>
                  <a:srgbClr val="D6DCE6"/>
                </a:solidFill>
                <a:latin typeface="Calibri" pitchFamily="34" charset="0"/>
                <a:ea typeface="Calibri" pitchFamily="34" charset="-122"/>
                <a:cs typeface="Calibri" pitchFamily="34" charset="-120"/>
              </a:rPr>
              <a:t>Chaque page porte un titre et un destinataire.</a:t>
            </a:r>
            <a:endParaRPr lang="en-US" sz="1350" dirty="0"/>
          </a:p>
        </p:txBody>
      </p:sp>
      <p:sp>
        <p:nvSpPr>
          <p:cNvPr id="7" name="Shape 5"/>
          <p:cNvSpPr/>
          <p:nvPr/>
        </p:nvSpPr>
        <p:spPr>
          <a:xfrm>
            <a:off x="640080" y="3246120"/>
            <a:ext cx="310896" cy="310896"/>
          </a:xfrm>
          <a:prstGeom prst="ellipse">
            <a:avLst/>
          </a:prstGeom>
          <a:solidFill>
            <a:srgbClr val="E2622C"/>
          </a:solidFill>
          <a:ln w="12700">
            <a:solidFill>
              <a:srgbClr val="E2622C"/>
            </a:solidFill>
            <a:prstDash val="solid"/>
          </a:ln>
        </p:spPr>
      </p:sp>
      <p:sp>
        <p:nvSpPr>
          <p:cNvPr id="8" name="Text 6"/>
          <p:cNvSpPr txBox="1"/>
          <p:nvPr/>
        </p:nvSpPr>
        <p:spPr>
          <a:xfrm>
            <a:off x="640080" y="32461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1143000" y="3264408"/>
            <a:ext cx="6766560" cy="365760"/>
          </a:xfrm>
          <a:prstGeom prst="rect">
            <a:avLst/>
          </a:prstGeom>
          <a:noFill/>
          <a:ln/>
        </p:spPr>
        <p:txBody>
          <a:bodyPr wrap="square" lIns="0" tIns="0" rIns="0" bIns="0" rtlCol="0" anchor="ctr"/>
          <a:lstStyle/>
          <a:p>
            <a:pPr indent="0" marL="0">
              <a:buNone/>
            </a:pPr>
            <a:r>
              <a:rPr lang="en-US" sz="1350" dirty="0">
                <a:solidFill>
                  <a:srgbClr val="D6DCE6"/>
                </a:solidFill>
                <a:latin typeface="Calibri" pitchFamily="34" charset="0"/>
                <a:ea typeface="Calibri" pitchFamily="34" charset="-122"/>
                <a:cs typeface="Calibri" pitchFamily="34" charset="-120"/>
              </a:rPr>
              <a:t>Chaque graphique posé a sa fiche remplie dans les commentaires.</a:t>
            </a:r>
            <a:endParaRPr lang="en-US" sz="1350" dirty="0"/>
          </a:p>
        </p:txBody>
      </p:sp>
      <p:sp>
        <p:nvSpPr>
          <p:cNvPr id="10" name="Shape 8"/>
          <p:cNvSpPr/>
          <p:nvPr/>
        </p:nvSpPr>
        <p:spPr>
          <a:xfrm>
            <a:off x="640080" y="3813048"/>
            <a:ext cx="310896" cy="310896"/>
          </a:xfrm>
          <a:prstGeom prst="ellipse">
            <a:avLst/>
          </a:prstGeom>
          <a:solidFill>
            <a:srgbClr val="E2622C"/>
          </a:solidFill>
          <a:ln w="12700">
            <a:solidFill>
              <a:srgbClr val="E2622C"/>
            </a:solidFill>
            <a:prstDash val="solid"/>
          </a:ln>
        </p:spPr>
      </p:sp>
      <p:sp>
        <p:nvSpPr>
          <p:cNvPr id="11" name="Text 9"/>
          <p:cNvSpPr txBox="1"/>
          <p:nvPr/>
        </p:nvSpPr>
        <p:spPr>
          <a:xfrm>
            <a:off x="640080" y="38130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1143000" y="3831336"/>
            <a:ext cx="6766560" cy="365760"/>
          </a:xfrm>
          <a:prstGeom prst="rect">
            <a:avLst/>
          </a:prstGeom>
          <a:noFill/>
          <a:ln/>
        </p:spPr>
        <p:txBody>
          <a:bodyPr wrap="square" lIns="0" tIns="0" rIns="0" bIns="0" rtlCol="0" anchor="ctr"/>
          <a:lstStyle/>
          <a:p>
            <a:pPr indent="0" marL="0">
              <a:buNone/>
            </a:pPr>
            <a:r>
              <a:rPr lang="en-US" sz="1350" dirty="0">
                <a:solidFill>
                  <a:srgbClr val="D6DCE6"/>
                </a:solidFill>
                <a:latin typeface="Calibri" pitchFamily="34" charset="0"/>
                <a:ea typeface="Calibri" pitchFamily="34" charset="-122"/>
                <a:cs typeface="Calibri" pitchFamily="34" charset="-120"/>
              </a:rPr>
              <a:t>Les mesures et les filtres sont nommés comme dans vos données, pas en langage courant.</a:t>
            </a:r>
            <a:endParaRPr lang="en-US" sz="1350" dirty="0"/>
          </a:p>
        </p:txBody>
      </p:sp>
      <p:sp>
        <p:nvSpPr>
          <p:cNvPr id="13" name="Shape 11"/>
          <p:cNvSpPr/>
          <p:nvPr/>
        </p:nvSpPr>
        <p:spPr>
          <a:xfrm>
            <a:off x="640080" y="4379976"/>
            <a:ext cx="310896" cy="310896"/>
          </a:xfrm>
          <a:prstGeom prst="ellipse">
            <a:avLst/>
          </a:prstGeom>
          <a:solidFill>
            <a:srgbClr val="E2622C"/>
          </a:solidFill>
          <a:ln w="12700">
            <a:solidFill>
              <a:srgbClr val="E2622C"/>
            </a:solidFill>
            <a:prstDash val="solid"/>
          </a:ln>
        </p:spPr>
      </p:sp>
      <p:sp>
        <p:nvSpPr>
          <p:cNvPr id="14" name="Text 12"/>
          <p:cNvSpPr txBox="1"/>
          <p:nvPr/>
        </p:nvSpPr>
        <p:spPr>
          <a:xfrm>
            <a:off x="640080" y="43799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143000" y="4398264"/>
            <a:ext cx="6766560" cy="365760"/>
          </a:xfrm>
          <a:prstGeom prst="rect">
            <a:avLst/>
          </a:prstGeom>
          <a:noFill/>
          <a:ln/>
        </p:spPr>
        <p:txBody>
          <a:bodyPr wrap="square" lIns="0" tIns="0" rIns="0" bIns="0" rtlCol="0" anchor="ctr"/>
          <a:lstStyle/>
          <a:p>
            <a:pPr indent="0" marL="0">
              <a:buNone/>
            </a:pPr>
            <a:r>
              <a:rPr lang="en-US" sz="1350" dirty="0">
                <a:solidFill>
                  <a:srgbClr val="D6DCE6"/>
                </a:solidFill>
                <a:latin typeface="Calibri" pitchFamily="34" charset="0"/>
                <a:ea typeface="Calibri" pitchFamily="34" charset="-122"/>
                <a:cs typeface="Calibri" pitchFamily="34" charset="-120"/>
              </a:rPr>
              <a:t>Les cadres en pointillés inutilisés ont été supprimés.</a:t>
            </a:r>
            <a:endParaRPr lang="en-US" sz="1350" dirty="0"/>
          </a:p>
        </p:txBody>
      </p:sp>
      <p:sp>
        <p:nvSpPr>
          <p:cNvPr id="16" name="Shape 14"/>
          <p:cNvSpPr/>
          <p:nvPr/>
        </p:nvSpPr>
        <p:spPr>
          <a:xfrm>
            <a:off x="640080" y="4946904"/>
            <a:ext cx="310896" cy="310896"/>
          </a:xfrm>
          <a:prstGeom prst="ellipse">
            <a:avLst/>
          </a:prstGeom>
          <a:solidFill>
            <a:srgbClr val="E2622C"/>
          </a:solidFill>
          <a:ln w="12700">
            <a:solidFill>
              <a:srgbClr val="E2622C"/>
            </a:solidFill>
            <a:prstDash val="solid"/>
          </a:ln>
        </p:spPr>
      </p:sp>
      <p:sp>
        <p:nvSpPr>
          <p:cNvPr id="17" name="Text 15"/>
          <p:cNvSpPr txBox="1"/>
          <p:nvPr/>
        </p:nvSpPr>
        <p:spPr>
          <a:xfrm>
            <a:off x="640080" y="4946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1143000" y="4965192"/>
            <a:ext cx="6766560" cy="365760"/>
          </a:xfrm>
          <a:prstGeom prst="rect">
            <a:avLst/>
          </a:prstGeom>
          <a:noFill/>
          <a:ln/>
        </p:spPr>
        <p:txBody>
          <a:bodyPr wrap="square" lIns="0" tIns="0" rIns="0" bIns="0" rtlCol="0" anchor="ctr"/>
          <a:lstStyle/>
          <a:p>
            <a:pPr indent="0" marL="0">
              <a:buNone/>
            </a:pPr>
            <a:r>
              <a:rPr lang="en-US" sz="1350" dirty="0">
                <a:solidFill>
                  <a:srgbClr val="D6DCE6"/>
                </a:solidFill>
                <a:latin typeface="Calibri" pitchFamily="34" charset="0"/>
                <a:ea typeface="Calibri" pitchFamily="34" charset="-122"/>
                <a:cs typeface="Calibri" pitchFamily="34" charset="-120"/>
              </a:rPr>
              <a:t>Les pages de l'annexe et les gabarits vides peuvent rester : ils ne gênent pas.</a:t>
            </a:r>
            <a:endParaRPr lang="en-US" sz="1350" dirty="0"/>
          </a:p>
        </p:txBody>
      </p:sp>
      <p:sp>
        <p:nvSpPr>
          <p:cNvPr id="19" name="Shape 17"/>
          <p:cNvSpPr/>
          <p:nvPr/>
        </p:nvSpPr>
        <p:spPr>
          <a:xfrm>
            <a:off x="8138160" y="2148840"/>
            <a:ext cx="3566160" cy="2468880"/>
          </a:xfrm>
          <a:prstGeom prst="roundRect">
            <a:avLst>
              <a:gd name="adj" fmla="val 2222"/>
            </a:avLst>
          </a:prstGeom>
          <a:solidFill>
            <a:srgbClr val="2C3444"/>
          </a:solidFill>
          <a:ln w="9525">
            <a:solidFill>
              <a:srgbClr val="3F4A5E"/>
            </a:solidFill>
            <a:prstDash val="solid"/>
          </a:ln>
        </p:spPr>
      </p:sp>
      <p:sp>
        <p:nvSpPr>
          <p:cNvPr id="20" name="Shape 18"/>
          <p:cNvSpPr/>
          <p:nvPr/>
        </p:nvSpPr>
        <p:spPr>
          <a:xfrm>
            <a:off x="8366760" y="2423160"/>
            <a:ext cx="694944" cy="384048"/>
          </a:xfrm>
          <a:prstGeom prst="roundRect">
            <a:avLst>
              <a:gd name="adj" fmla="val 9524"/>
            </a:avLst>
          </a:prstGeom>
          <a:solidFill>
            <a:srgbClr val="394356"/>
          </a:solidFill>
          <a:ln w="12700">
            <a:solidFill>
              <a:srgbClr val="394356"/>
            </a:solidFill>
            <a:prstDash val="solid"/>
          </a:ln>
        </p:spPr>
      </p:sp>
      <p:sp>
        <p:nvSpPr>
          <p:cNvPr id="21" name="Shape 19"/>
          <p:cNvSpPr/>
          <p:nvPr/>
        </p:nvSpPr>
        <p:spPr>
          <a:xfrm>
            <a:off x="9171432" y="2423160"/>
            <a:ext cx="694944" cy="384048"/>
          </a:xfrm>
          <a:prstGeom prst="roundRect">
            <a:avLst>
              <a:gd name="adj" fmla="val 9524"/>
            </a:avLst>
          </a:prstGeom>
          <a:solidFill>
            <a:srgbClr val="394356"/>
          </a:solidFill>
          <a:ln w="12700">
            <a:solidFill>
              <a:srgbClr val="394356"/>
            </a:solidFill>
            <a:prstDash val="solid"/>
          </a:ln>
        </p:spPr>
      </p:sp>
      <p:sp>
        <p:nvSpPr>
          <p:cNvPr id="22" name="Shape 20"/>
          <p:cNvSpPr/>
          <p:nvPr/>
        </p:nvSpPr>
        <p:spPr>
          <a:xfrm>
            <a:off x="9976104" y="2423160"/>
            <a:ext cx="694944" cy="384048"/>
          </a:xfrm>
          <a:prstGeom prst="roundRect">
            <a:avLst>
              <a:gd name="adj" fmla="val 9524"/>
            </a:avLst>
          </a:prstGeom>
          <a:solidFill>
            <a:srgbClr val="394356"/>
          </a:solidFill>
          <a:ln w="12700">
            <a:solidFill>
              <a:srgbClr val="394356"/>
            </a:solidFill>
            <a:prstDash val="solid"/>
          </a:ln>
        </p:spPr>
      </p:sp>
      <p:sp>
        <p:nvSpPr>
          <p:cNvPr id="23" name="Shape 21"/>
          <p:cNvSpPr/>
          <p:nvPr/>
        </p:nvSpPr>
        <p:spPr>
          <a:xfrm>
            <a:off x="10780776" y="2423160"/>
            <a:ext cx="694944" cy="384048"/>
          </a:xfrm>
          <a:prstGeom prst="roundRect">
            <a:avLst>
              <a:gd name="adj" fmla="val 9524"/>
            </a:avLst>
          </a:prstGeom>
          <a:solidFill>
            <a:srgbClr val="394356"/>
          </a:solidFill>
          <a:ln w="12700">
            <a:solidFill>
              <a:srgbClr val="394356"/>
            </a:solidFill>
            <a:prstDash val="solid"/>
          </a:ln>
        </p:spPr>
      </p:sp>
      <p:sp>
        <p:nvSpPr>
          <p:cNvPr id="24" name="Shape 22"/>
          <p:cNvSpPr/>
          <p:nvPr/>
        </p:nvSpPr>
        <p:spPr>
          <a:xfrm>
            <a:off x="8366760" y="2953512"/>
            <a:ext cx="1499616" cy="1051560"/>
          </a:xfrm>
          <a:prstGeom prst="roundRect">
            <a:avLst>
              <a:gd name="adj" fmla="val 3478"/>
            </a:avLst>
          </a:prstGeom>
          <a:solidFill>
            <a:srgbClr val="394356"/>
          </a:solidFill>
          <a:ln w="12700">
            <a:solidFill>
              <a:srgbClr val="394356"/>
            </a:solidFill>
            <a:prstDash val="solid"/>
          </a:ln>
        </p:spPr>
      </p:sp>
      <p:sp>
        <p:nvSpPr>
          <p:cNvPr id="25" name="Shape 23"/>
          <p:cNvSpPr/>
          <p:nvPr/>
        </p:nvSpPr>
        <p:spPr>
          <a:xfrm>
            <a:off x="9976104" y="2953512"/>
            <a:ext cx="1499616" cy="1051560"/>
          </a:xfrm>
          <a:prstGeom prst="roundRect">
            <a:avLst>
              <a:gd name="adj" fmla="val 3478"/>
            </a:avLst>
          </a:prstGeom>
          <a:solidFill>
            <a:srgbClr val="394356"/>
          </a:solidFill>
          <a:ln w="12700">
            <a:solidFill>
              <a:srgbClr val="394356"/>
            </a:solidFill>
            <a:prstDash val="solid"/>
          </a:ln>
        </p:spPr>
      </p:sp>
      <p:sp>
        <p:nvSpPr>
          <p:cNvPr id="26" name="Shape 24"/>
          <p:cNvSpPr/>
          <p:nvPr/>
        </p:nvSpPr>
        <p:spPr>
          <a:xfrm>
            <a:off x="8366760" y="4096512"/>
            <a:ext cx="3108960" cy="274320"/>
          </a:xfrm>
          <a:prstGeom prst="roundRect">
            <a:avLst>
              <a:gd name="adj" fmla="val 13333"/>
            </a:avLst>
          </a:prstGeom>
          <a:solidFill>
            <a:srgbClr val="E2622C"/>
          </a:solidFill>
          <a:ln w="12700">
            <a:solidFill>
              <a:srgbClr val="E2622C"/>
            </a:solidFill>
            <a:prstDash val="solid"/>
          </a:ln>
        </p:spPr>
      </p:sp>
      <p:sp>
        <p:nvSpPr>
          <p:cNvPr id="27" name="Text 25"/>
          <p:cNvSpPr txBox="1"/>
          <p:nvPr/>
        </p:nvSpPr>
        <p:spPr>
          <a:xfrm>
            <a:off x="8366760" y="4096512"/>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une page = un écran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de prototypage de tableau de bord</dc:title>
  <dc:subject>PptxGenJS Presentation</dc:subject>
  <dc:creator>Kit de prototypage</dc:creator>
  <cp:lastModifiedBy>Kit de prototypage</cp:lastModifiedBy>
  <cp:revision>1</cp:revision>
  <dcterms:created xsi:type="dcterms:W3CDTF">2026-08-26T10:52:47Z</dcterms:created>
  <dcterms:modified xsi:type="dcterms:W3CDTF">2026-08-26T10:52:47Z</dcterms:modified>
</cp:coreProperties>
</file>